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xml" ContentType="application/xml"/>
  <Default Extension="rels" ContentType="application/vnd.openxmlformats-package.relationships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15" Type="http://schemas.openxmlformats.org/officeDocument/2006/relationships/presProps" Target="presProps.xml" /><Relationship Id="rId3" Type="http://schemas.openxmlformats.org/officeDocument/2006/relationships/slide" Target="slides/slide3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6" Type="http://schemas.openxmlformats.org/officeDocument/2006/relationships/tableStyles" Target="tableStyles.xml" /><Relationship Id="rId14" Type="http://schemas.openxmlformats.org/officeDocument/2006/relationships/notesMaster" Target="notesMasters/notesMaster1.xml" /><Relationship Id="rId7" Type="http://schemas.openxmlformats.org/officeDocument/2006/relationships/slide" Target="slides/slide7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7" Type="http://schemas.openxmlformats.org/officeDocument/2006/relationships/viewProps" Target="viewProps.xml" /><Relationship Id="rId1" Type="http://schemas.openxmlformats.org/officeDocument/2006/relationships/slide" Target="slides/slide1.xml" /><Relationship Id="rId9" Type="http://schemas.openxmlformats.org/officeDocument/2006/relationships/slide" Target="slides/slide9.xml" /><Relationship Id="rId13" Type="http://schemas.openxmlformats.org/officeDocument/2006/relationships/slide" Target="slides/slide13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23.pn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8" Type="http://schemas.openxmlformats.org/officeDocument/2006/relationships/image" Target="media/image31.svg" /><Relationship Id="rId5" Type="http://schemas.openxmlformats.org/officeDocument/2006/relationships/image" Target="media/image28.svg" /><Relationship Id="rId7" Type="http://schemas.openxmlformats.org/officeDocument/2006/relationships/image" Target="media/image30.svg" /><Relationship Id="rId1" Type="http://schemas.openxmlformats.org/officeDocument/2006/relationships/image" Target="media/image24.svg" /><Relationship Id="rId3" Type="http://schemas.openxmlformats.org/officeDocument/2006/relationships/image" Target="media/image26.svg" /><Relationship Id="rId2" Type="http://schemas.openxmlformats.org/officeDocument/2006/relationships/image" Target="media/image25.svg" /><Relationship Id="rId4" Type="http://schemas.openxmlformats.org/officeDocument/2006/relationships/image" Target="media/image27.svg" /><Relationship Id="rId6" Type="http://schemas.openxmlformats.org/officeDocument/2006/relationships/image" Target="media/image29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32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35.svg" /><Relationship Id="rId5" Type="http://schemas.openxmlformats.org/officeDocument/2006/relationships/image" Target="media/image37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34.svg" /><Relationship Id="rId6" Type="http://schemas.openxmlformats.org/officeDocument/2006/relationships/image" Target="media/image38.svg" /><Relationship Id="rId4" Type="http://schemas.openxmlformats.org/officeDocument/2006/relationships/image" Target="media/image36.svg" /><Relationship Id="rId1" Type="http://schemas.openxmlformats.org/officeDocument/2006/relationships/image" Target="media/image33.svg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39.png" /><Relationship Id="rId2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4" Type="http://schemas.openxmlformats.org/officeDocument/2006/relationships/image" Target="media/image42.svg" /><Relationship Id="rId3" Type="http://schemas.openxmlformats.org/officeDocument/2006/relationships/image" Target="media/image41.svg" /><Relationship Id="rId2" Type="http://schemas.openxmlformats.org/officeDocument/2006/relationships/image" Target="media/image40.svg" /><Relationship Id="rId1" Type="http://schemas.openxmlformats.org/officeDocument/2006/relationships/image" Target="media/image35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4" Type="http://schemas.openxmlformats.org/officeDocument/2006/relationships/image" Target="media/image46.svg" /><Relationship Id="rId3" Type="http://schemas.openxmlformats.org/officeDocument/2006/relationships/image" Target="media/image45.svg" /><Relationship Id="rId2" Type="http://schemas.openxmlformats.org/officeDocument/2006/relationships/image" Target="media/image44.svg" /><Relationship Id="rId1" Type="http://schemas.openxmlformats.org/officeDocument/2006/relationships/image" Target="media/image43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9" Type="http://schemas.openxmlformats.org/officeDocument/2006/relationships/image" Target="media/image10.svg" /><Relationship Id="rId8" Type="http://schemas.openxmlformats.org/officeDocument/2006/relationships/image" Target="media/image9.svg" /><Relationship Id="rId7" Type="http://schemas.openxmlformats.org/officeDocument/2006/relationships/image" Target="media/image8.svg" /><Relationship Id="rId6" Type="http://schemas.openxmlformats.org/officeDocument/2006/relationships/image" Target="media/image7.svg" /><Relationship Id="rId4" Type="http://schemas.openxmlformats.org/officeDocument/2006/relationships/image" Target="media/image5.svg" /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5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svg" /><Relationship Id="rId10" Type="http://schemas.openxmlformats.org/officeDocument/2006/relationships/image" Target="media/image11.svg" /></Relationships>
</file>

<file path=ppt/slides/_rels/slide11.xml.rels><?xml version="1.0" encoding="UTF-8" standalone="yes"?><Relationships xmlns="http://schemas.openxmlformats.org/package/2006/relationships"><Relationship Id="rId5" Type="http://schemas.openxmlformats.org/officeDocument/2006/relationships/image" Target="media/image16.svg" /><Relationship Id="rId4" Type="http://schemas.openxmlformats.org/officeDocument/2006/relationships/image" Target="media/image15.svg" /><Relationship Id="rId3" Type="http://schemas.openxmlformats.org/officeDocument/2006/relationships/image" Target="media/image14.svg" /><Relationship Id="rId2" Type="http://schemas.openxmlformats.org/officeDocument/2006/relationships/image" Target="media/image13.svg" /><Relationship Id="rId1" Type="http://schemas.openxmlformats.org/officeDocument/2006/relationships/image" Target="media/image1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6" Type="http://schemas.openxmlformats.org/officeDocument/2006/relationships/image" Target="media/image22.svg" /><Relationship Id="rId4" Type="http://schemas.openxmlformats.org/officeDocument/2006/relationships/image" Target="media/image20.svg" /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1" Type="http://schemas.openxmlformats.org/officeDocument/2006/relationships/image" Target="media/image17.svg" /><Relationship Id="rId5" Type="http://schemas.openxmlformats.org/officeDocument/2006/relationships/image" Target="media/image21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&#10;    position: 'relative',&#10;    padding: 0,&#10;    fontFamily: &quot;'PingFang SC','Source Han Sans SC','Microsoft YaHei',sans-serif&quot;,&#10;    color: '#ffffff',&#10;    overflow: 'hidden',&#10;}}&gt;&#10;    {/* 全幅背景图 */}&#10;    &lt;Box style={{ position: 'absolute', top: 0, left: 0, right: 0, bottom: 0, zIndex: 0 }}&gt;&#10;        &lt;Image&#10;            src=&quot;resources/images/hero_cover.png&quot;&#10;            style={{ width: '100%', height: '100%', objectFit: 'cover' }}&#10;        /&gt;&#10;        &lt;Box style={{&#10;            position: 'absolute',&#10;            top: 0, left: 0, right: 0, bottom: 0,&#10;            background: 'linear-gradient(135deg, rgba(15,23,42,0.92) 0%, rgba(15,23,42,0.55) 55%, rgba(15,23,42,0.15) 100%)',&#10;        }} /&gt;&#10;    &lt;/Box&gt;&#10;&#10;    {/* 内容区 */}&#10;    &lt;Box style={{&#10;        position: 'relative',&#10;        zIndex: 1,&#10;        padding: '48px 72px 40px',&#10;        height: '100%',&#10;        flexDirection: 'column',&#10;        justifyContent: 'center',&#10;    }}&gt;&#10;        &lt;Box style={{&#10;            width: 720,&#10;            flexDirection: 'column',&#10;            gap: 28,&#10;        }}&gt;&#10;            &lt;Box style={{&#10;                width: 80,&#10;                height: 6,&#10;                borderRadius: 3,&#10;                background: 'linear-gradient(135deg, #3B82F6 0%, #06B6D4 100%)',&#10;                marginBottom: 8,&#10;            }} /&gt;&#10;            &lt;Text style={{&#10;                fontSize: 64,&#10;                fontWeight: 'bold',&#10;                lineHeight: 1.15,&#10;                letterSpacing: 2,&#10;                textShadow: '0 4px 20px rgba(0,0,0,0.35)',&#10;            }}&gt;&#10;                365企微会话存档&#10;            &lt;/Text&gt;&#10;            &lt;Text style={{&#10;                fontSize: 28,&#10;                fontWeight: 500,&#10;                lineHeight: 1.4,&#10;                color: 'rgba(255,255,255,0.92)',&#10;                textShadow: '0 2px 12px rgba(0,0,0,0.3)',&#10;            }}&gt;&#10;                企业微信会话合规存档 · 智能审查 · 安全可追溯&#10;            &lt;/Text&gt;&#10;            &lt;Text style={{&#10;                fontSize: 22,&#10;                lineHeight: 1.6,&#10;                color: 'rgba(255,255,255,0.75)',&#10;                marginTop: 12,&#10;                maxWidth: 620,&#10;            }}&gt;&#10;                让每一句企业微信对话，都成为可信赖的合规资产。一体化平台，实现全量存档、秒级检索、授权审查。&#10;            &lt;/Text&gt;&#10;            &lt;Text style={{&#10;                fontSize: 14,&#10;                color: 'rgba(255,255,255,0.55)',&#10;                marginTop: 48,&#10;            }}&gt;&#10;                产品介绍 · 2026&#10;            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1"/>
          <a:srcRect l="0" t="5118" r="0" b="511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2000"/>
                </a:srgbClr>
              </a:gs>
              <a:gs pos="55000">
                <a:srgbClr val="0F172A">
                  <a:alpha val="55000"/>
                </a:srgbClr>
              </a:gs>
              <a:gs pos="100000">
                <a:srgbClr val="0F172A">
                  <a:alpha val="15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685800" y="1447800"/>
            <a:ext cx="762000" cy="571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85800" y="1847850"/>
            <a:ext cx="68580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800" b="1" spc="150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365</a:t>
            </a:r>
            <a:r>
              <a:rPr lang="zh-CN" sz="4800" b="1" spc="150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5000"/>
                    </a:srgbClr>
                  </a:outerShdw>
                </a:effectLst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962275"/>
            <a:ext cx="6858000" cy="4572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100">
                <a:solidFill>
                  <a:srgbClr val="FFFFFF">
                    <a:alpha val="92000"/>
                  </a:srgbClr>
                </a:solidFill>
                <a:effectLst>
                  <a:outerShdw blurRad="114300" dist="1905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企业微信会话合规存档</a:t>
            </a:r>
            <a:r>
              <a:rPr lang="en-US" sz="2100">
                <a:solidFill>
                  <a:srgbClr val="FFFFFF">
                    <a:alpha val="92000"/>
                  </a:srgbClr>
                </a:solidFill>
                <a:effectLst>
                  <a:outerShdw blurRad="114300" dist="1905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 · </a:t>
            </a:r>
            <a:r>
              <a:rPr lang="zh-CN" sz="2100">
                <a:solidFill>
                  <a:srgbClr val="FFFFFF">
                    <a:alpha val="92000"/>
                  </a:srgbClr>
                </a:solidFill>
                <a:effectLst>
                  <a:outerShdw blurRad="114300" dist="1905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智能审查</a:t>
            </a:r>
            <a:r>
              <a:rPr lang="en-US" sz="2100">
                <a:solidFill>
                  <a:srgbClr val="FFFFFF">
                    <a:alpha val="92000"/>
                  </a:srgbClr>
                </a:solidFill>
                <a:effectLst>
                  <a:outerShdw blurRad="114300" dist="1905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 · </a:t>
            </a:r>
            <a:r>
              <a:rPr lang="zh-CN" sz="2100">
                <a:solidFill>
                  <a:srgbClr val="FFFFFF">
                    <a:alpha val="92000"/>
                  </a:srgbClr>
                </a:solidFill>
                <a:effectLst>
                  <a:outerShdw blurRad="114300" dist="1905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安全可追溯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3800475"/>
            <a:ext cx="6858000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FFFFFF">
                    <a:alpha val="75000"/>
                  </a:srgbClr>
                </a:solidFill>
                <a:latin typeface="PingFang SC"/>
                <a:ea typeface="PingFang SC"/>
              </a:rPr>
              <a:t>让每一句企业微信对话，都成为可信赖的合规资产。一体化平台，实现全量存档、秒级检索、授权审查。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85800" y="5334000"/>
            <a:ext cx="685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产品介绍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PingFang SC"/>
                <a:ea typeface="PingFang SC"/>
              </a:rPr>
              <a:t> · 2026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86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目录&lt;/Text&gt;&#10;    &lt;/Box&gt;&#10;&#10;    {/* B 内容区 */}&#10;    &lt;Box style={{ flex: 1, flexDirection: 'row', gap: 36, height: 520 }}&gt;&#10;        {/* 左标题栏 */}&#10;        &lt;Box style={{&#10;            width: 340,&#10;            height: 520,&#10;            borderRadius: 16,&#10;            padding: 32,&#10;            background: 'linear-gradient(135deg, #3B82F6 0%, #06B6D4 100%)',&#10;            flexDirection: 'column',&#10;            justifyContent: 'space-between',&#10;        }}&gt;&#10;            &lt;Box style={{ flexDirection: 'column', gap: 20 }}&gt;&#10;                &lt;Text style={{ fontSize: 48, fontWeight: 'bold', color: '#ffffff', lineHeight: 1.2 }}&gt;目录&lt;/Text&gt;&#10;                &lt;Text style={{ fontSize: 20, color: 'rgba(255,255,255,0.9)', lineHeight: 1.5 }}&gt;&#10;                    5 大章节&lt;br /&gt;一览核心卖点&#10;                &lt;/Text&gt;&#10;            &lt;/Box&gt;&#10;            &lt;Box style={{ flexDirection: 'row', alignItems: 'center', gap: 12 }}&gt;&#10;                &lt;Box style={{ width: 48, height: 4, borderRadius: 2, background: '#ffffff' }} /&gt;&#10;                &lt;Text style={{ fontSize: 14, color: 'rgba(255,255,255,0.8)' }}&gt;CONTENTS&lt;/Text&gt;&#10;            &lt;/Box&gt;&#10;        &lt;/Box&gt;&#10;&#10;        {/* 右内容列表 */}&#10;        &lt;Box style={{ flex: 1, flexDirection: 'column', gap: 16, height: 520, justifyContent: 'center' }}&gt;&#10;            {[&#10;                ['01', '为什么需要会话存档', '监管合规压力与企业管理盲区的双重驱动'],&#10;                ['02', '产品定位与核心能力', '一个平台解决存档、解密、检索、审查四大环节'],&#10;                ['03', '关键能力详解', '全量合规存档 · 毫秒级检索 · 三栏审查控制台'],&#10;                ['04', '安全与合规', '端到端加密、租户隔离、审计留痕'],&#10;                ['05', '应用场景与部署', '金融、客服、私域、离职继承等典型场景'],&#10;            ].map(([num, title, desc]) =&gt; (&#10;                &lt;Box key={num} style={{&#10;                    flexDirection: 'row',&#10;                    alignItems: 'center',&#10;                    gap: 20,&#10;                    padding: '22px 24px',&#10;                    borderRadius: 12,&#10;                    background: 'rgba(59,130,246,0.08)',&#10;                }}&gt;&#10;                    &lt;Box style={{&#10;                        width: 44,&#10;                        height: 44,&#10;                        borderRadius: 22,&#10;                        background: '#3B82F6',&#10;                        justifyContent: 'center',&#10;                        alignItems: 'center',&#10;                    }}&gt;&#10;                        &lt;Text style={{ fontSize: 18, fontWeight: 'bold', color: '#ffffff' }}&gt;{num}&lt;/Text&gt;&#10;                    &lt;/Box&gt;&#10;                    &lt;Box style={{ flexDirection: 'column', gap: 6 }}&gt;&#10;                        &lt;Text style={{ fontSize: 22, fontWeight: 'bold', color: '#0F172A' }}&gt;{title}&lt;/Text&gt;&#10;                        &lt;Text style={{ fontSize: 18, color: 'rgba(15,23,42,0.65)', lineHeight: 1.5 }}&gt;{desc}&lt;/Text&gt;&#10;                    &lt;/Box&gt;&#10;                &lt;/Box&gt;&#10;            ))}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5800" y="1143000"/>
            <a:ext cx="3238500" cy="495300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90600" y="1447800"/>
            <a:ext cx="26289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990600" y="2305050"/>
            <a:ext cx="2628900" cy="6858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5 </a:t>
            </a:r>
            <a:r>
              <a:rPr lang="zh-CN" sz="15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大章节</a:t>
            </a:r>
            <a:endParaRPr/>
          </a:p>
          <a:p>
            <a:pPr>
              <a:lnSpc>
                <a:spcPct val="15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一览核心卖点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990600" y="569595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562100" y="5629275"/>
            <a:ext cx="733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0000"/>
                  </a:srgbClr>
                </a:solidFill>
                <a:latin typeface="PingFang SC"/>
                <a:ea typeface="PingFang SC"/>
              </a:rPr>
              <a:t>CONTENTS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4267200" y="695325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4495800" y="1009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619625" y="1114425"/>
            <a:ext cx="1809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5105400" y="9048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PingFang SC"/>
                <a:ea typeface="PingFang SC"/>
              </a:rPr>
              <a:t>为什么需要会话存档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105400" y="1219200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监管合规压力与企业管理盲区的双重驱动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4267200" y="1895475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00" name=""/>
          <p:cNvSpPr/>
          <p:nvPr/>
        </p:nvSpPr>
        <p:spPr>
          <a:xfrm rot="0" flipH="0" flipV="0">
            <a:off x="4495800" y="22098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600575" y="231457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02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105400" y="2105025"/>
            <a:ext cx="36004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PingFang SC"/>
                <a:ea typeface="PingFang SC"/>
              </a:rPr>
              <a:t>产品定位与核心能力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105400" y="2419350"/>
            <a:ext cx="36004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一个平台解决存档、解密、检索、审查四大环节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4267200" y="3095625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4495800" y="3409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600575" y="35147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03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105400" y="3305175"/>
            <a:ext cx="3486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PingFang SC"/>
                <a:ea typeface="PingFang SC"/>
              </a:rPr>
              <a:t>关键能力详解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105400" y="3619500"/>
            <a:ext cx="34861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全量合规存档</a:t>
            </a:r>
            <a:r>
              <a:rPr lang="en-US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毫秒级检索</a:t>
            </a:r>
            <a:r>
              <a:rPr lang="en-US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三栏审查控制台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4267200" y="4295775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4495800" y="46101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4600575" y="471487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04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105400" y="4505325"/>
            <a:ext cx="2571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PingFang SC"/>
                <a:ea typeface="PingFang SC"/>
              </a:rPr>
              <a:t>安全与合规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105400" y="4819650"/>
            <a:ext cx="257175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端到端加密、租户隔离、审计留痕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267200" y="5495925"/>
            <a:ext cx="7239000" cy="1047750"/>
          </a:xfrm>
          <a:prstGeom prst="roundRect">
            <a:avLst>
              <a:gd name="adj" fmla="val 10909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4495800" y="58102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4600575" y="5915025"/>
            <a:ext cx="209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PingFang SC"/>
                <a:ea typeface="PingFang SC"/>
              </a:rPr>
              <a:t>05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5105400" y="5705475"/>
            <a:ext cx="3086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PingFang SC"/>
                <a:ea typeface="PingFang SC"/>
              </a:rPr>
              <a:t>应用场景与部署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5105400" y="6019800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0F172A">
                    <a:alpha val="65000"/>
                  </a:srgbClr>
                </a:solidFill>
                <a:latin typeface="PingFang SC"/>
                <a:ea typeface="PingFang SC"/>
              </a:rPr>
              <a:t>金融、客服、私域、离职继承等典型场景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 descr="&lt;Slide style={{&#10;    position: 'relative',&#10;    padding: 0,&#10;    fontFamily: &quot;'PingFang SC','Source Han Sans SC','Microsoft YaHei',sans-serif&quot;,&#10;    color: '#ffffff',&#10;    overflow: 'hidden',&#10;}}&gt;&#10;    {/* 全幅背景 */}&#10;    &lt;Box style={{ position: 'absolute', top: 0, left: 0, right: 0, bottom: 0, zIndex: 0 }}&gt;&#10;        &lt;Image&#10;            src=&quot;resources/images/risk_concept.png&quot;&#10;            style={{ width: '100%', height: '100%', objectFit: 'cover' }}&#10;        /&gt;&#10;        &lt;Box style={{&#10;            position: 'absolute',&#10;            top: 0, left: 0, right: 0, bottom: 0,&#10;            background: 'linear-gradient(90deg, rgba(15,23,42,0.88) 0%, rgba(15,23,42,0.5) 50%, rgba(15,23,42,0.18) 100%)',&#10;        }} /&gt;&#10;    &lt;/Box&gt;&#10;&#10;    {/* 内容区 */}&#10;    &lt;Box style={{&#10;        position: 'relative',&#10;        zIndex: 1,&#10;        padding: '60px 72px',&#10;        height: '100%',&#10;        flexDirection: 'column',&#10;        justifyContent: 'center',&#10;    }}&gt;&#10;        &lt;Box style={{ width: 640, flexDirection: 'column', gap: 24 }}&gt;&#10;            &lt;Text style={{&#10;                fontSize: 120,&#10;                fontWeight: 'bold',&#10;                lineHeight: 1,&#10;                color: 'transparent',&#10;                backgroundImage: 'linear-gradient(135deg, #3B82F6 0%, #06B6D4 100%)',&#10;                backgroundClip: 'text',&#10;                marginBottom: -8,&#10;            }}&gt;01&lt;/Text&gt;&#10;            &lt;Text style={{&#10;                fontSize: 48,&#10;                fontWeight: 'bold',&#10;                lineHeight: 1.2,&#10;                textShadow: '0 4px 20px rgba(0,0,0,0.3)',&#10;            }}&gt;&#10;                为什么需要&lt;br /&gt;会话存档&#10;            &lt;/Text&gt;&#10;            &lt;Text style={{&#10;                fontSize: 22,&#10;                lineHeight: 1.7,&#10;                color: 'rgba(255,255,255,0.85)',&#10;                maxWidth: 540,&#10;            }}&gt;&#10;                在监管趋严与私域运营并行的今天，&lt;br /&gt;&quot;看不见的对话&quot;正成为企业最大的风险敞口。&#10;            &lt;/Text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"/>
          <p:cNvPicPr>
            <a:picLocks noChangeAspect="1"/>
          </p:cNvPicPr>
          <p:nvPr/>
        </p:nvPicPr>
        <p:blipFill>
          <a:blip r:embed="rId1"/>
          <a:srcRect l="0" t="5118" r="0" b="511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88000"/>
                </a:srgbClr>
              </a:gs>
              <a:gs pos="50000">
                <a:srgbClr val="0F172A">
                  <a:alpha val="50000"/>
                </a:srgbClr>
              </a:gs>
              <a:gs pos="100000">
                <a:srgbClr val="0F172A">
                  <a:alpha val="18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6096000" cy="1371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01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85800" y="2990850"/>
            <a:ext cx="6096000" cy="13239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为什么需要</a:t>
            </a:r>
            <a:endParaRPr/>
          </a:p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会话存档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85800" y="4543425"/>
            <a:ext cx="5143500" cy="8572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65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在监管趋严与私域运营并行的今天，</a:t>
            </a:r>
            <a:endParaRPr/>
          </a:p>
          <a:p>
            <a:pPr>
              <a:lnSpc>
                <a:spcPct val="170000"/>
              </a:lnSpc>
            </a:pPr>
            <a:r>
              <a:rPr lang="en-US" sz="165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看不见的对话</a:t>
            </a:r>
            <a:r>
              <a:rPr lang="en-US" sz="165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FFFFFF">
                    <a:alpha val="85000"/>
                  </a:srgbClr>
                </a:solidFill>
                <a:latin typeface="PingFang SC"/>
                <a:ea typeface="PingFang SC"/>
              </a:rPr>
              <a:t>正成为企业最大的风险敞口。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27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合规压力与管理盲区&lt;/Text&gt;&#10;    &lt;/Box&gt;&#10;&#10;    {/* B 内容区 */}&#10;    &lt;Box style={{ flex: 1, flexDirection: 'row', gap: 28, height: 520 }}&gt;&#10;        {/* 左栏 60% 监管合规 */}&#10;        &lt;Box style={{&#10;            width: 680,&#10;            height: 520,&#10;            borderRadius: 16,&#10;            background: '#ffffff',&#10;            boxShadow: '0 4px 20px rgba(15,23,42,0.08)',&#10;            overflow: 'hidden',&#10;            flexDirection: 'column',&#10;        }}&gt;&#10;            &lt;Box style={{&#10;                height: 6,&#10;                background: 'linear-gradient(135deg, #3B82F6 0%, #06B6D4 100%)',&#10;            }} /&gt;&#10;            &lt;Box style={{ padding: '30px 32px', flexDirection: 'column', gap: 24, flex: 1 }}&gt;&#10;                &lt;Box style={{ flexDirection: 'row', alignItems: 'center', gap: 14 }}&gt;&#10;                    &lt;Box style={{&#10;                        width: 44, height: 44, borderRadius: 12,&#10;                        background: 'rgba(59,130,246,0.12)',&#10;                        justifyContent: 'center', alignItems: 'center',&#10;                    }}&gt;&#10;                        &lt;FAIcon name='shield-alt' style={{ fill: '#3B82F6', width: 24, height: 24 }} /&gt;&#10;                    &lt;/Box&gt;&#10;                    &lt;Text style={{ fontSize: 26, fontWeight: 'bold', color: '#0F172A' }}&gt;监管合规压力&lt;/Text&gt;&#10;                &lt;/Box&gt;&#10;                &lt;Box style={{ flexDirection: 'column', gap: 22, flex: 1, justifyContent: 'center' }}&gt;&#10;                    &lt;Box style={{ flexDirection: 'row', gap: 14, alignItems: 'flex-start' }}&gt;&#10;                        &lt;FAIcon name='file-alt' style={{ fill: '#3B82F6', width: 20, height: 20, marginTop: 4 }} /&gt;&#10;                        &lt;Text style={{ fontSize: 19, lineHeight: 1.6, color: 'rgba(15,23,42,0.85)', flex: 1 }}&gt;&#10;                            金融、保险、证券等行业监管要求企业微信会话内容必须留存备查，确保沟通记录可举证、可审计。&#10;                        &lt;/Text&gt;&#10;                    &lt;/Box&gt;&#10;                    &lt;Box style={{ flexDirection: 'row', gap: 14, alignItems: 'flex-start' }}&gt;&#10;                        &lt;FAIcon name='balance-scale' style={{ fill: '#3B82F6', width: 20, height: 20, marginTop: 4 }} /&gt;&#10;                        &lt;Text style={{ fontSize: 19, lineHeight: 1.6, color: 'rgba(15,23,42,0.85)', flex: 1 }}&gt;&#10;                            《网络安全法》《数据安全法》《个人信息保护法》要求个人信息处理全程留痕，合规检查必须有据可依。&#10;                        &lt;/Text&gt;&#10;                    &lt;/Box&gt;&#10;                    &lt;Box style={{ flexDirection: 'row', gap: 14, alignItems: 'flex-start' }}&gt;&#10;                        &lt;FAIcon name='gavel' style={{ fill: '#3B82F6', width: 20, height: 20, marginTop: 4 }} /&gt;&#10;                        &lt;Text style={{ fontSize: 19, lineHeight: 1.6, color: 'rgba(15,23,42,0.85)', flex: 1 }}&gt;&#10;                            客诉、劳资纠纷、反洗钱审计等场景下，需要快速调取完整对话，避免举证不能或证据缺失。&#10;                        &lt;/Text&gt;&#10;                    &lt;/Box&gt;&#10;                &lt;/Box&gt;&#10;            &lt;/Box&gt;&#10;        &lt;/Box&gt;&#10;&#10;        {/* 右栏 40% 管理盲区 */}&#10;        &lt;Box style={{&#10;            width: 428,&#10;            height: 520,&#10;            borderRadius: 16,&#10;            background: '#ffffff',&#10;            boxShadow: '0 4px 20px rgba(15,23,42,0.08)',&#10;            overflow: 'hidden',&#10;            flexDirection: 'column',&#10;        }}&gt;&#10;            &lt;Box style={{&#10;                height: 6,&#10;                background: 'linear-gradient(135deg, #06B6D4 0%, #3B82F6 100%)',&#10;            }} /&gt;&#10;            &lt;Box style={{ padding: '30px 32px', flexDirection: 'column', gap: 24, flex: 1 }}&gt;&#10;                &lt;Box style={{ flexDirection: 'row', alignItems: 'center', gap: 14 }}&gt;&#10;                    &lt;Box style={{&#10;                        width: 44, height: 44, borderRadius: 12,&#10;                        background: 'rgba(6,182,212,0.12)',&#10;                        justifyContent: 'center', alignItems: 'center',&#10;                    }}&gt;&#10;                        &lt;FAIcon name='eye-slash' style={{ fill: '#06B6D4', width: 24, height: 24 }} /&gt;&#10;                    &lt;/Box&gt;&#10;                    &lt;Text style={{ fontSize: 26, fontWeight: 'bold', color: '#0F172A' }}&gt;管理盲区&lt;/Text&gt;&#10;                &lt;/Box&gt;&#10;                &lt;Box style={{ flexDirection: 'column', gap: 22, flex: 1, justifyContent: 'center' }}&gt;&#10;                    &lt;Box style={{ flexDirection: 'row', gap: 14, alignItems: 'flex-start' }}&gt;&#10;                        &lt;FAIcon name='exclamation-circle' style={{ fill: '#06B6D4', width: 20, height: 20, marginTop: 4 }} /&gt;&#10;                        &lt;Text style={{ fontSize: 19, lineHeight: 1.6, color: 'rgba(15,23,42,0.85)', flex: 1 }}&gt;&#10;                            飞单、私单、带走客户：员工私加客户微信交易，企业难追溯、难取证。&#10;                        &lt;/Text&gt;&#10;                    &lt;/Box&gt;&#10;                    &lt;Box style={{ flexDirection: 'row', gap: 14, alignItems: 'flex-start' }}&gt;&#10;                        &lt;FAIcon name='comment' style={{ fill: '#06B6D4', width: 20, height: 20, marginTop: 4 }} /&gt;&#10;                        &lt;Text style={{ fontSize: 19, lineHeight: 1.6, color: 'rgba(15,23,42,0.85)', flex: 1 }}&gt;&#10;                            服务态度与口头承诺不一致，客诉纠纷无据可依，品牌口碑受损。&#10;                        &lt;/Text&gt;&#10;                    &lt;/Box&gt;&#10;                    &lt;Box style={{ flexDirection: 'row', gap: 14, alignItems: 'flex-start' }}&gt;&#10;                        &lt;FAIcon name='user-times' style={{ fill: '#06B6D4', width: 20, height: 20, marginTop: 4 }} /&gt;&#10;                        &lt;Text style={{ fontSize: 19, lineHeight: 1.6, color: 'rgba(15,23,42,0.85)', flex: 1 }}&gt;&#10;                            离职交接断层：客户关系和会话记录随人走，企业资产流失。&#10;                        &lt;/Text&gt;&#10;                    &lt;/Box&gt;&#10;                &lt;/Box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4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合规压力与管理盲区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685800" y="1143000"/>
            <a:ext cx="64770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685800" y="1143000"/>
            <a:ext cx="6477000" cy="57150"/>
          </a:xfrm>
          <a:custGeom>
            <a:pathLst>
              <a:path w="680" h="6">
                <a:moveTo>
                  <a:pt x="664" y="0"/>
                </a:moveTo>
                <a:cubicBezTo>
                  <a:pt x="669" y="0"/>
                  <a:pt x="674" y="2"/>
                  <a:pt x="676" y="6"/>
                </a:cubicBezTo>
                <a:lnTo>
                  <a:pt x="4" y="6"/>
                </a:lnTo>
                <a:cubicBezTo>
                  <a:pt x="7" y="2"/>
                  <a:pt x="11" y="0"/>
                  <a:pt x="16" y="0"/>
                </a:cubicBezTo>
                <a:lnTo>
                  <a:pt x="664" y="0"/>
                </a:lnTo>
                <a:close/>
              </a:path>
            </a:pathLst>
          </a:cu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990600" y="14859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B82F6">
              <a:alpha val="12000"/>
            </a:srgbClr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581150"/>
            <a:ext cx="228600" cy="22860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543050" y="1543050"/>
            <a:ext cx="14859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PingFang SC"/>
                <a:ea typeface="PingFang SC"/>
              </a:rPr>
              <a:t>监管合规压力</a:t>
            </a:r>
            <a:endParaRPr/>
          </a:p>
        </p:txBody>
      </p:sp>
      <p:pic>
        <p:nvPicPr>
          <p:cNvPr id="1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90600" y="2762250"/>
            <a:ext cx="190500" cy="190500"/>
          </a:xfrm>
          <a:prstGeom prst="rect">
            <a:avLst/>
          </a:prstGeom>
          <a:ln/>
        </p:spPr>
      </p:pic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1314450" y="2724150"/>
            <a:ext cx="5543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金融、保险、证券等行业监管要求企业微信会话内容必须留存备查，确保沟通记录可举证、可审计。</a:t>
            </a:r>
            <a:endParaRPr/>
          </a:p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90600" y="3667125"/>
            <a:ext cx="190500" cy="19050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314450" y="3629025"/>
            <a:ext cx="5543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《网络安全法》《数据安全法》《个人信息保护法》要求个人信息处理全程留痕，合规检查必须有据可依。</a:t>
            </a:r>
            <a:endParaRPr/>
          </a:p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90600" y="4572000"/>
            <a:ext cx="190500" cy="190500"/>
          </a:xfrm>
          <a:prstGeom prst="rect">
            <a:avLst/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314450" y="4533900"/>
            <a:ext cx="55435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客诉、劳资纠纷、反洗钱审计等场景下，需要快速调取完整对话，避免举证不能或证据缺失。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7429500" y="1143000"/>
            <a:ext cx="4076700" cy="4953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2" name=""/>
          <p:cNvSpPr/>
          <p:nvPr/>
        </p:nvSpPr>
        <p:spPr>
          <a:xfrm rot="0" flipH="0" flipV="0">
            <a:off x="7429500" y="1143000"/>
            <a:ext cx="4076700" cy="57150"/>
          </a:xfrm>
          <a:custGeom>
            <a:pathLst>
              <a:path w="428" h="6">
                <a:moveTo>
                  <a:pt x="412" y="0"/>
                </a:moveTo>
                <a:cubicBezTo>
                  <a:pt x="417" y="0"/>
                  <a:pt x="422" y="2"/>
                  <a:pt x="424" y="6"/>
                </a:cubicBezTo>
                <a:lnTo>
                  <a:pt x="4" y="6"/>
                </a:lnTo>
                <a:cubicBezTo>
                  <a:pt x="7" y="2"/>
                  <a:pt x="11" y="0"/>
                  <a:pt x="16" y="0"/>
                </a:cubicBezTo>
                <a:lnTo>
                  <a:pt x="412" y="0"/>
                </a:lnTo>
                <a:close/>
              </a:path>
            </a:pathLst>
          </a:custGeom>
          <a:gradFill>
            <a:gsLst>
              <a:gs pos="0">
                <a:srgbClr val="06B6D4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7734300" y="14859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829550" y="1581150"/>
            <a:ext cx="228600" cy="2286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286750" y="1543050"/>
            <a:ext cx="990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PingFang SC"/>
                <a:ea typeface="PingFang SC"/>
              </a:rPr>
              <a:t>管理盲区</a:t>
            </a:r>
            <a:endParaRPr/>
          </a:p>
        </p:txBody>
      </p:sp>
      <p:pic>
        <p:nvPicPr>
          <p:cNvPr id="1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734300" y="2762250"/>
            <a:ext cx="190500" cy="190500"/>
          </a:xfrm>
          <a:prstGeom prst="rect">
            <a:avLst/>
          </a:prstGeom>
          <a:ln/>
        </p:spPr>
      </p:pic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8058150" y="2724150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飞单、私单、带走客户：员工私加客户微信交易，企业难追溯、难取证。</a:t>
            </a:r>
            <a:endParaRPr/>
          </a:p>
        </p:txBody>
      </p:sp>
      <p:pic>
        <p:nvPicPr>
          <p:cNvPr id="1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734300" y="3667125"/>
            <a:ext cx="190500" cy="190500"/>
          </a:xfrm>
          <a:prstGeom prst="rect">
            <a:avLst/>
          </a:prstGeom>
          <a:ln/>
        </p:spPr>
      </p:pic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058150" y="3629025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服务态度与口头承诺不一致，客诉纠纷无据可依，品牌口碑受损。</a:t>
            </a:r>
            <a:endParaRPr/>
          </a:p>
        </p:txBody>
      </p:sp>
      <p:pic>
        <p:nvPicPr>
          <p:cNvPr id="1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7734300" y="4572000"/>
            <a:ext cx="190500" cy="190500"/>
          </a:xfrm>
          <a:prstGeom prst="rect">
            <a:avLst/>
          </a:prstGeom>
          <a:ln/>
        </p:spPr>
      </p:pic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058150" y="4533900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离职交接断层：客户关系和会话记录随人走，企业资产流失。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54" name="" descr="&lt;Slide style={{&#10;    padding: '20px 72px',&#10;    fontFamily: &quot;'PingFang SC','Source Han Sans SC','Microsoft YaHei',sans-serif&quot;,&#10;    background: '#ffffff',&#10;    flexDirection: 'column',&#10;    position: 'relative',&#10;}}&gt;&#10;    {/* 装饰圆 */}&#10;    &lt;Box style={{&#10;        position: 'absolute',&#10;        top: 80, right: 120,&#10;        width: 240, height: 240, borderRadius: 120,&#10;        background: 'rgba(59,130,246,0.06)',&#10;        zIndex: 0,&#10;    }} /&gt;&#10;    &lt;Box style={{&#10;        position: 'absolute',&#10;        bottom: 120, left: 80,&#10;        width: 180, height: 180, borderRadius: 90,&#10;        background: 'rgba(6,182,212,0.06)',&#10;        zIndex: 0,&#10;    }} /&gt;&#10;&#10;    {/* A 标题块（可省略标题，用居中内容替代） */}&#10;    &lt;Box style={{ height: 100, zIndex: 1 }} /&gt;&#10;&#10;    {/* B 内容区 */}&#10;    &lt;Box style={{&#10;        flex: 1,&#10;        zIndex: 1,&#10;        flexDirection: 'column',&#10;        justifyContent: 'center',&#10;        alignItems: 'center',&#10;        gap: 28,&#10;        height: 520,&#10;    }}&gt;&#10;        &lt;Box style={{&#10;            width: 180, height: 180, borderRadius: 90,&#10;            background: 'linear-gradient(135deg, #3B82F6 0%, #06B6D4 100%)',&#10;            justifyContent: 'center', alignItems: 'center',&#10;            boxShadow: '0 16px 40px rgba(59,130,246,0.25)',&#10;        }}&gt;&#10;            &lt;FAIcon name='comments' style={{ fill: '#ffffff', width: 80, height: 80 }} /&gt;&#10;        &lt;/Box&gt;&#10;        &lt;Text style={{&#10;            fontSize: 40,&#10;            fontWeight: 'bold',&#10;            color: '#0F172A',&#10;            textAlign: 'center',&#10;            marginTop: 8,&#10;        }}&gt;&#10;            365企微会话存档&#10;        &lt;/Text&gt;&#10;        &lt;Text style={{&#10;            fontSize: 30,&#10;            fontWeight: 600,&#10;            lineHeight: 1.4,&#10;            color: 'transparent',&#10;            backgroundImage: 'linear-gradient(135deg, #3B82F6 0%, #06B6D4 100%)',&#10;            backgroundClip: 'text',&#10;            textAlign: 'center',&#10;            maxWidth: 900,&#10;        }}&gt;&#10;            企业微信会话合规存档 + 智能审查一体化平台&#10;        &lt;/Text&gt;&#10;        &lt;Text style={{&#10;            fontSize: 22,&#10;            lineHeight: 1.7,&#10;            color: 'rgba(15,23,42,0.7)',&#10;            textAlign: 'center',&#10;            maxWidth: 780,&#10;            marginTop: 8,&#10;        }}&gt;&#10;            让对话从&quot;阅后即焚&quot;变为&quot;全程留痕、随时可查、安全可控&quot;，&lt;br /&gt;把散落在企业微信里的沟通资产变成可审计的合规资产。&#10;        &lt;/Text&gt;&#10;    &lt;/Box&gt;&#10;&#10;    {/* C 页脚条 */}&#10;    &lt;Box style={{ height: 60, flexDirection: 'row', justifyContent: 'space-between', alignItems: 'center', zIndex: 1 }}&gt;&#10;        &lt;Text style={{ fontSize: 14, color: 'rgba(15,23,42,0.5)' }}&gt;365企微会话存档&lt;/Text&gt;&#10;        &lt;Text style={{ fontSize: 14, color: 'rgba(15,23,42,0.5)' }}&gt;05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8763000" y="762000"/>
            <a:ext cx="2286000" cy="2286000"/>
          </a:xfrm>
          <a:prstGeom prst="roundRect">
            <a:avLst>
              <a:gd name="adj" fmla="val 50000"/>
            </a:avLst>
          </a:prstGeom>
          <a:solidFill>
            <a:srgbClr val="3B82F6">
              <a:alpha val="6000"/>
            </a:srgbClr>
          </a:solidFill>
          <a:ln/>
        </p:spPr>
        <p:txBody>
          <a:bodyPr/>
          <a:p/>
        </p:txBody>
      </p:sp>
      <p:sp>
        <p:nvSpPr>
          <p:cNvPr id="157" name=""/>
          <p:cNvSpPr/>
          <p:nvPr/>
        </p:nvSpPr>
        <p:spPr>
          <a:xfrm rot="0" flipH="0" flipV="0">
            <a:off x="762000" y="4000500"/>
            <a:ext cx="1714500" cy="1714500"/>
          </a:xfrm>
          <a:prstGeom prst="roundRect">
            <a:avLst>
              <a:gd name="adj" fmla="val 50000"/>
            </a:avLst>
          </a:prstGeom>
          <a:solidFill>
            <a:srgbClr val="06B6D4">
              <a:alpha val="6000"/>
            </a:srgbClr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238750" y="1390650"/>
            <a:ext cx="1714500" cy="1714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381000" dist="152400" dir="5400000">
              <a:srgbClr val="3B82F6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715000" y="1866900"/>
            <a:ext cx="762000" cy="76200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610100" y="3448050"/>
            <a:ext cx="2971800" cy="4572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3000" b="1">
                <a:solidFill>
                  <a:srgbClr val="0F172A"/>
                </a:solidFill>
                <a:latin typeface="PingFang SC"/>
                <a:ea typeface="PingFang SC"/>
              </a:rPr>
              <a:t>365</a:t>
            </a:r>
            <a:r>
              <a:rPr lang="zh-CN" sz="3000" b="1">
                <a:solidFill>
                  <a:srgbClr val="0F172A"/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3200400" y="4171950"/>
            <a:ext cx="5800725" cy="485775"/>
          </a:xfrm>
          <a:prstGeom prst="rect"/>
        </p:spPr>
        <p:txBody>
          <a:bodyPr wrap="none" lIns="0" tIns="0" rIns="0" bIns="0"/>
          <a:p>
            <a:pPr algn="ctr">
              <a:lnSpc>
                <a:spcPct val="140000"/>
              </a:lnSpc>
            </a:pPr>
            <a:r>
              <a:rPr lang="zh-CN" sz="225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企业微信会话合规存档</a:t>
            </a:r>
            <a:r>
              <a:rPr lang="en-US" sz="225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 + </a:t>
            </a:r>
            <a:r>
              <a:rPr lang="zh-CN" sz="225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智能审查一体化平台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295650" y="5000625"/>
            <a:ext cx="5600700" cy="857250"/>
          </a:xfrm>
          <a:prstGeom prst="rect"/>
        </p:spPr>
        <p:txBody>
          <a:bodyPr wrap="none" lIns="0" tIns="0" rIns="0" bIns="0"/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让对话从</a:t>
            </a:r>
            <a:r>
              <a:rPr lang="en-US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阅后即焚</a:t>
            </a:r>
            <a:r>
              <a:rPr lang="en-US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变为</a:t>
            </a:r>
            <a:r>
              <a:rPr lang="en-US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全程留痕、随时可查、安全可控</a:t>
            </a:r>
            <a:r>
              <a:rPr lang="en-US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"</a:t>
            </a: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，</a:t>
            </a:r>
            <a:endParaRPr/>
          </a:p>
          <a:p>
            <a:pPr algn="ctr">
              <a:lnSpc>
                <a:spcPct val="170000"/>
              </a:lnSpc>
            </a:pPr>
            <a:r>
              <a:rPr lang="zh-CN" sz="16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把散落在企业微信里的沟通资产变成可审计的合规资产。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65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核心能力总览&lt;/Text&gt;&#10;    &lt;/Box&gt;&#10;&#10;    {/* B 内容区 */}&#10;    &lt;Box style={{ flex: 1, flexDirection: 'row', gap: 32, height: 520 }}&gt;&#10;        {/* 左标题栏 */}&#10;        &lt;Box style={{&#10;            width: 340,&#10;            height: 520,&#10;            borderRadius: 16,&#10;            padding: 32,&#10;            background: 'linear-gradient(135deg, #3B82F6 0%, #06B6D4 100%)',&#10;            flexDirection: 'column',&#10;            justifyContent: 'space-between',&#10;        }}&gt;&#10;            &lt;Box style={{ flexDirection: 'column', gap: 18 }}&gt;&#10;                &lt;Text style={{ fontSize: 48, fontWeight: 'bold', color: '#ffffff', lineHeight: 1.2 }}&gt;核心能力&lt;/Text&gt;&#10;                &lt;Text style={{ fontSize: 20, color: 'rgba(255,255,255,0.9)', lineHeight: 1.6 }}&gt;&#10;                    覆盖存档、解密、检索、审查、审计、体验六大环节，&lt;br /&gt;形成完整会话合规闭环。&#10;                &lt;/Text&gt;&#10;            &lt;/Box&gt;&#10;            &lt;Text style={{ fontSize: 14, color: 'rgba(255,255,255,0.7)' }}&gt;6 CAPABILITIES&lt;/Text&gt;&#10;        &lt;/Box&gt;&#10;&#10;        {/* 右侧 3 行 × 2 列能力卡 */}&#10;        &lt;Box style={{ flex: 1, height: 520, flexDirection: 'column', gap: 20 }}&gt;&#10;            {/* 第 1 行 */}&#10;            &lt;Box style={{ flexDirection: 'row', gap: 16, height: 160 }}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database' style={{ fill: '#3B82F6', width: 20, height: 20 }} /&gt;&#10;                        &lt;/Box&gt;&#10;                        &lt;Text style={{ fontSize: 21, fontWeight: 'bold', color: '#0F172A' }}&gt;全量合规存档&lt;/Text&gt;&#10;                    &lt;/Box&gt;&#10;                    &lt;Text style={{ fontSize: 18, lineHeight: 1.55, color: 'rgba(15,23,42,0.7)' }}&gt;文本、图片、语音、视频、文件全消息类型，私聊+群聊全量留存。&lt;/Text&gt;&#10;                &lt;/Box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lock' style={{ fill: '#3B82F6', width: 20, height: 20 }} /&gt;&#10;                        &lt;/Box&gt;&#10;                        &lt;Text style={{ fontSize: 21, fontWeight: 'bold', color: '#0F172A' }}&gt;端到端安全解密&lt;/Text&gt;&#10;                    &lt;/Box&gt;&#10;                    &lt;Text style={{ fontSize: 18, lineHeight: 1.55, color: 'rgba(15,23,42,0.7)' }}&gt;RSA + AES 解密流水线，支持密钥版本化轮换。&lt;/Text&gt;&#10;                &lt;/Box&gt;&#10;            &lt;/Box&gt;&#10;&#10;            {/* 第 2 行 */}&#10;            &lt;Box style={{ flexDirection: 'row', gap: 16, height: 160 }}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search' style={{ fill: '#3B82F6', width: 20, height: 20 }} /&gt;&#10;                        &lt;/Box&gt;&#10;                        &lt;Text style={{ fontSize: 21, fontWeight: 'bold', color: '#0F172A' }}&gt;毫秒级会话检索&lt;/Text&gt;&#10;                    &lt;/Box&gt;&#10;                    &lt;Text style={{ fontSize: 18, lineHeight: 1.55, color: 'rgba(15,23,42,0.7)' }}&gt;关键词、联系人、时间范围多维检索，中英双语界面。&lt;/Text&gt;&#10;                &lt;/Box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desktop' style={{ fill: '#3B82F6', width: 20, height: 20 }} /&gt;&#10;                        &lt;/Box&gt;&#10;                        &lt;Text style={{ fontSize: 21, fontWeight: 'bold', color: '#0F172A' }}&gt;三栏审查控制台&lt;/Text&gt;&#10;                    &lt;/Box&gt;&#10;                    &lt;Text style={{ fontSize: 18, lineHeight: 1.55, color: 'rgba(15,23,42,0.7)' }}&gt;员工/联系人 → 会话列表 → 消息时间线，还原企业微信气泡。&lt;/Text&gt;&#10;                &lt;/Box&gt;&#10;            &lt;/Box&gt;&#10;&#10;            {/* 第 3 行 */}&#10;            &lt;Box style={{ flexDirection: 'row', gap: 16, height: 160 }}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chart-line' style={{ fill: '#3B82F6', width: 20, height: 20 }} /&gt;&#10;                        &lt;/Box&gt;&#10;                        &lt;Text style={{ fontSize: 21, fontWeight: 'bold', color: '#0F172A' }}&gt;消息可达性审计&lt;/Text&gt;&#10;                    &lt;/Box&gt;&#10;                    &lt;Text style={{ fontSize: 18, lineHeight: 1.55, color: 'rgba(15,23,42,0.7)' }}&gt;系统诊断页面，聚合统计消息可达性，不触碰内容。&lt;/Text&gt;&#10;                &lt;/Box&gt;&#10;                &lt;Box style={{&#10;                    width: 374, height: 160, borderRadius: 12,&#10;                    background: 'rgba(59,130,246,0.08)',&#10;                    padding: 22, flexDirection: 'column', gap: 12,&#10;                }}&gt;&#10;                    &lt;Box style={{ flexDirection: 'row', alignItems: 'center', gap: 12 }}&gt;&#10;                        &lt;Box style={{ width: 40, height: 40, borderRadius: 10, background: 'rgba(59,130,246,0.15)', justifyContent: 'center', alignItems: 'center' }}&gt;&#10;                            &lt;FAIcon name='comment' style={{ fill: '#3B82F6', width: 20, height: 20 }} /&gt;&#10;                        &lt;/Box&gt;&#10;                        &lt;Text style={{ fontSize: 21, fontWeight: 'bold', color: '#0F172A' }}&gt;企业微信原生体验&lt;/Text&gt;&#10;                    &lt;/Box&gt;&#10;                    &lt;Text style={{ fontSize: 18, lineHeight: 1.55, color: 'rgba(15,23,42,0.7)' }}&gt;WeCom OAuth 登录，操作留痕，界面语言一键切换。&lt;/Text&gt;&#10;                &lt;/Box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6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核心能力总览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85800" y="1143000"/>
            <a:ext cx="3238500" cy="4953000"/>
          </a:xfrm>
          <a:prstGeom prst="roundRect">
            <a:avLst>
              <a:gd name="adj" fmla="val 4706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990600" y="1447800"/>
            <a:ext cx="2628900" cy="666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600" b="1">
                <a:solidFill>
                  <a:srgbClr val="FFFFFF"/>
                </a:solidFill>
                <a:latin typeface="PingFang SC"/>
                <a:ea typeface="PingFang SC"/>
              </a:rPr>
              <a:t>核心能力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90600" y="2286000"/>
            <a:ext cx="26289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覆盖存档、解密、检索、审查、审计、体验六大环节，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形成完整会话合规闭环。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90600" y="5629275"/>
            <a:ext cx="2628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0000"/>
                  </a:srgbClr>
                </a:solidFill>
                <a:latin typeface="PingFang SC"/>
                <a:ea typeface="PingFang SC"/>
              </a:rPr>
              <a:t>6 CAPABILITIES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229100" y="11430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4438650" y="1352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533900" y="1447800"/>
            <a:ext cx="190500" cy="190500"/>
          </a:xfrm>
          <a:prstGeom prst="rect">
            <a:avLst/>
          </a:prstGeom>
          <a:ln/>
        </p:spPr>
      </p:pic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933950" y="1419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全量合规存档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438650" y="18478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文本、图片、语音、视频、文件全消息类型，私聊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+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群聊全量留存。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7943850" y="11430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8153400" y="1352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248650" y="1447800"/>
            <a:ext cx="190500" cy="19050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8648700" y="14192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端到端安全解密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153400" y="18478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RSA + AES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解密流水线，支持密钥版本化轮换。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229100" y="28575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4438650" y="3067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33900" y="3162300"/>
            <a:ext cx="190500" cy="19050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933950" y="31337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毫秒级会话检索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438650" y="35623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关键词、联系人、时间范围多维检索，中英双语界面。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7943850" y="28575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88" name=""/>
          <p:cNvSpPr/>
          <p:nvPr/>
        </p:nvSpPr>
        <p:spPr>
          <a:xfrm rot="0" flipH="0" flipV="0">
            <a:off x="8153400" y="3067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48650" y="3162300"/>
            <a:ext cx="190500" cy="190500"/>
          </a:xfrm>
          <a:prstGeom prst="rect">
            <a:avLst/>
          </a:prstGeom>
          <a:ln/>
        </p:spPr>
      </p:pic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648700" y="31337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三栏审查控制台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153400" y="35623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员工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/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联系人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会话列表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消息时间线，还原企业微信气泡。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4229100" y="45720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4438650" y="4781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533900" y="4876800"/>
            <a:ext cx="190500" cy="190500"/>
          </a:xfrm>
          <a:prstGeom prst="rect">
            <a:avLst/>
          </a:prstGeom>
          <a:ln/>
        </p:spPr>
      </p:pic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消息可达性审计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4438650" y="52768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系统诊断页面，聚合统计消息可达性，不触碰内容。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7943850" y="4572000"/>
            <a:ext cx="3562350" cy="1524000"/>
          </a:xfrm>
          <a:prstGeom prst="roundRect">
            <a:avLst>
              <a:gd name="adj" fmla="val 7500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8153400" y="47815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1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8248650" y="4876800"/>
            <a:ext cx="190500" cy="190500"/>
          </a:xfrm>
          <a:prstGeom prst="rect">
            <a:avLst/>
          </a:prstGeom>
          <a:ln/>
        </p:spPr>
      </p:pic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8648700" y="4848225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企业微信原生体验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153400" y="5276850"/>
            <a:ext cx="31432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WeCom OAuth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登录，操作留痕，界面语言一键切换。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04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全量合规存档&lt;/Text&gt;&#10;    &lt;/Box&gt;&#10;&#10;    {/* B 内容区 */}&#10;    &lt;Box style={{ flex: 1, flexDirection: 'row', gap: 28, height: 520 }}&gt;&#10;        {/* 左大图 */}&#10;        &lt;Box style={{ width: 680, height: 520, borderRadius: 16, overflow: 'hidden' }}&gt;&#10;            &lt;Image&#10;                src=&quot;resources/images/secure_decrypt.png&quot;&#10;                style={{ width: '100%', height: '100%', objectFit: 'cover' }}&#10;            /&gt;&#10;        &lt;/Box&gt;&#10;&#10;        {/* 右文字卡 */}&#10;        &lt;Box style={{&#10;            width: 428,&#10;            height: 520,&#10;            borderRadius: 16,&#10;            background: '#ffffff',&#10;            boxShadow: '0 4px 20px rgba(15,23,42,0.08)',&#10;            padding: 32,&#10;            flexDirection: 'column',&#10;            justifyContent: 'space-between',&#10;        }}&gt;&#10;            &lt;Box style={{ flexDirection: 'column', gap: 20 }}&gt;&#10;                &lt;Text style={{ fontSize: 26, fontWeight: 'bold', color: '#0F172A' }}&gt;从企业微信到安全仓库&lt;/Text&gt;&#10;                &lt;Box style={{ flexDirection: 'column', gap: 18 }}&gt;&#10;                    &lt;Box style={{ flexDirection: 'row', gap: 12, alignItems: 'flex-start' }}&gt;&#10;                        &lt;FAIcon name='check-circle' style={{ fill: '#3B82F6', width: 20, height: 20, marginTop: 3 }} /&gt;&#10;                        &lt;Text style={{ fontSize: 18, lineHeight: 1.6, color: 'rgba(15,23,42,0.85)', flex: 1 }}&gt;&#10;                            通过企业微信会话存档 API（C SDK）定时拉取加密消息，确保不遗漏。&#10;                        &lt;/Text&gt;&#10;                    &lt;/Box&gt;&#10;                    &lt;Box style={{ flexDirection: 'row', gap: 12, alignItems: 'flex-start' }}&gt;&#10;                        &lt;FAIcon name='check-circle' style={{ fill: '#3B82F6', width: 20, height: 20, marginTop: 3 }} /&gt;&#10;                        &lt;Text style={{ fontSize: 18, lineHeight: 1.6, color: 'rgba(15,23,42,0.85)', flex: 1 }}&gt;&#10;                            覆盖文本、图片、语音、视频、文件、表情等全消息类型。&#10;                        &lt;/Text&gt;&#10;                    &lt;/Box&gt;&#10;                    &lt;Box style={{ flexDirection: 'row', gap: 12, alignItems: 'flex-start' }}&gt;&#10;                        &lt;FAIcon name='check-circle' style={{ fill: '#3B82F6', width: 20, height: 20, marginTop: 3 }} /&gt;&#10;                        &lt;Text style={{ fontSize: 18, lineHeight: 1.6, color: 'rgba(15,23,42,0.85)', flex: 1 }}&gt;&#10;                            1 对 1 私聊与群聊统一留存，消息顺序按 WeCom seq 有序归档。&#10;                        &lt;/Text&gt;&#10;                    &lt;/Box&gt;&#10;                    &lt;Box style={{ flexDirection: 'row', gap: 12, alignItems: 'flex-start' }}&gt;&#10;                        &lt;FAIcon name='check-circle' style={{ fill: '#3B82F6', width: 20, height: 20, marginTop: 3 }} /&gt;&#10;                        &lt;Text style={{ fontSize: 18, lineHeight: 1.6, color: 'rgba(15,23,42,0.85)', flex: 1 }}&gt;&#10;                            不是备份，而是面向合规与审计的完整数字资产。&#10;                        &lt;/Text&gt;&#10;                    &lt;/Box&gt;&#10;                &lt;/Box&gt;&#10;            &lt;/Box&gt;&#10;            &lt;Box style={{&#10;                borderRadius: 12,&#10;                background: 'linear-gradient(135deg, rgba(59,130,246,0.1) 0%, rgba(6,182,212,0.1) 100%)',&#10;                padding: 18,&#10;                flexDirection: 'column',&#10;                gap: 4,&#10;            }}&gt;&#10;                &lt;Text style={{&#10;                    fontSize: 56,&#10;                    fontWeight: 'bold',&#10;                    color: 'transparent',&#10;                    backgroundImage: 'linear-gradient(135deg, #3B82F6 0%, #06B6D4 100%)',&#10;                    backgroundClip: 'text',&#10;                    lineHeight: 1,&#10;                }}&gt;100%&lt;/Text&gt;&#10;                &lt;Text style={{ fontSize: 18, color: 'rgba(15,23,42,0.7)' }}&gt;全消息类型覆盖&lt;/Text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7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全量合规存档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85800" y="1143000"/>
            <a:ext cx="6477000" cy="4953000"/>
          </a:xfrm>
          <a:prstGeom prst="roundRect">
            <a:avLst>
              <a:gd name="adj" fmla="val 3077"/>
            </a:avLst>
          </a:prstGeom>
          <a:ln/>
        </p:spPr>
        <p:txBody>
          <a:bodyPr/>
          <a:p/>
        </p:txBody>
      </p:sp>
      <p:pic>
        <p:nvPicPr>
          <p:cNvPr id="208" name=""/>
          <p:cNvPicPr>
            <a:picLocks noChangeAspect="1"/>
          </p:cNvPicPr>
          <p:nvPr/>
        </p:nvPicPr>
        <p:blipFill>
          <a:blip r:embed="rId1"/>
          <a:srcRect l="9027" t="0" r="9027" b="0"/>
          <a:stretch>
            <a:fillRect/>
          </a:stretch>
        </p:blipFill>
        <p:spPr>
          <a:xfrm rot="0" flipH="0" flipV="0">
            <a:off x="685800" y="1143000"/>
            <a:ext cx="6477000" cy="4953000"/>
          </a:xfrm>
          <a:custGeom>
            <a:pathLst>
              <a:path w="680" h="520">
                <a:moveTo>
                  <a:pt x="664" y="0"/>
                </a:moveTo>
                <a:cubicBezTo>
                  <a:pt x="673" y="0"/>
                  <a:pt x="680" y="7"/>
                  <a:pt x="680" y="16"/>
                </a:cubicBezTo>
                <a:lnTo>
                  <a:pt x="680" y="504"/>
                </a:lnTo>
                <a:cubicBezTo>
                  <a:pt x="680" y="513"/>
                  <a:pt x="673" y="520"/>
                  <a:pt x="664" y="520"/>
                </a:cubicBez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664" y="0"/>
                </a:lnTo>
                <a:close/>
              </a:path>
            </a:pathLst>
          </a:custGeom>
          <a:ln/>
        </p:spPr>
      </p:pic>
      <p:sp>
        <p:nvSpPr>
          <p:cNvPr id="209" name=""/>
          <p:cNvSpPr/>
          <p:nvPr/>
        </p:nvSpPr>
        <p:spPr>
          <a:xfrm rot="0" flipH="0" flipV="0">
            <a:off x="7429500" y="1143000"/>
            <a:ext cx="4076700" cy="4953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7734300" y="1447800"/>
            <a:ext cx="3467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PingFang SC"/>
                <a:ea typeface="PingFang SC"/>
              </a:rPr>
              <a:t>从企业微信到安全仓库</a:t>
            </a:r>
            <a:endParaRPr/>
          </a:p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34300" y="1971675"/>
            <a:ext cx="190500" cy="1905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8039100" y="19431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通过企业微信会话存档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API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（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C SDK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）定时拉取加密消息，确保不遗漏。</a:t>
            </a:r>
            <a:endParaRPr/>
          </a:p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34300" y="2809875"/>
            <a:ext cx="190500" cy="1905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8039100" y="27813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覆盖文本、图片、语音、视频、文件、表情等全消息类型。</a:t>
            </a:r>
            <a:endParaRPr/>
          </a:p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34300" y="3648075"/>
            <a:ext cx="190500" cy="19050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8039100" y="36195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1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对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1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私聊与群聊统一留存，消息顺序按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WeCom seq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有序归档。</a:t>
            </a:r>
            <a:endParaRPr/>
          </a:p>
        </p:txBody>
      </p:sp>
      <p:pic>
        <p:nvPicPr>
          <p:cNvPr id="21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34300" y="4486275"/>
            <a:ext cx="190500" cy="190500"/>
          </a:xfrm>
          <a:prstGeom prst="rect">
            <a:avLst/>
          </a:prstGeom>
          <a:ln/>
        </p:spPr>
      </p:pic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039100" y="44577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不是备份，而是面向合规与审计的完整数字资产。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7734300" y="5124450"/>
            <a:ext cx="3467100" cy="1238250"/>
          </a:xfrm>
          <a:prstGeom prst="roundRect">
            <a:avLst>
              <a:gd name="adj" fmla="val 9231"/>
            </a:avLst>
          </a:prstGeom>
          <a:gradFill>
            <a:gsLst>
              <a:gs pos="0">
                <a:srgbClr val="3B82F6">
                  <a:alpha val="1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905750" y="5295900"/>
            <a:ext cx="31242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gradFill>
                  <a:gsLst>
                    <a:gs pos="0">
                      <a:srgbClr val="3B82F6"/>
                    </a:gs>
                    <a:gs pos="100000">
                      <a:srgbClr val="06B6D4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905750" y="5981700"/>
            <a:ext cx="3124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全消息类型覆盖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1058525" y="6305550"/>
            <a:ext cx="447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4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毫秒级会话检索&lt;/Text&gt;&#10;    &lt;/Box&gt;&#10;&#10;    {/* B 内容区 */}&#10;    &lt;Box style={{ flex: 1, flexDirection: 'row', gap: 40, height: 520, alignItems: 'center' }}&gt;&#10;        {/* 左侧巨型数字锚点 */}&#10;        &lt;Box style={{&#10;            width: 480,&#10;            height: 520,&#10;            flexDirection: 'column',&#10;            justifyContent: 'center',&#10;            alignItems: 'center',&#10;            gap: 16,&#10;        }}&gt;&#10;            &lt;Box style={{&#10;                width: 280,&#10;                height: 280,&#10;                borderRadius: 140,&#10;                background: 'linear-gradient(135deg, #3B82F6 0%, #06B6D4 100%)',&#10;                justifyContent: 'center',&#10;                alignItems: 'center',&#10;                boxShadow: '0 20px 50px rgba(59,130,246,0.25)',&#10;                flexDirection: 'column',&#10;                gap: 8,&#10;            }}&gt;&#10;                &lt;Text style={{&#10;                    fontSize: 96,&#10;                    fontWeight: 'bold',&#10;                    color: '#ffffff',&#10;                    lineHeight: 1,&#10;                }}&gt;100%&lt;/Text&gt;&#10;                &lt;Text style={{ fontSize: 22, color: 'rgba(255,255,255,0.9)' }}&gt;全量可检索&lt;/Text&gt;&#10;            &lt;/Box&gt;&#10;            &lt;Text style={{ fontSize: 18, color: 'rgba(15,23,42,0.55)', marginTop: 8 }}&gt;毫秒级响应 · 多维定位&lt;/Text&gt;&#10;        &lt;/Box&gt;&#10;&#10;        {/* 右侧洞察列表 */}&#10;        &lt;Box style={{&#10;            flex: 1,&#10;            height: 520,&#10;            flexDirection: 'column',&#10;            justifyContent: 'center',&#10;            gap: 22,&#10;        }}&gt;&#10;            {[&#10;                ['search', '多维检索', '关键词、联系人、会话类型、时间范围交叉筛选，快速定位目标对话'],&#10;                ['clock', '时间线浏览', '按时间顺序展示完整会话，滚动自动加载更早记录，上下文一目了然'],&#10;                ['language', '中英双语', '管理后台支持中英文切换，满足跨国团队与外资合规要求'],&#10;                ['download', '结果可追溯', '检索条件与查看记录均留痕，满足审计与合规调阅要求'],&#10;            ].map(([icon, title, desc], idx) =&gt; (&#10;                &lt;Box key={idx} style={{&#10;                    flexDirection: 'row',&#10;                    alignItems: 'flex-start',&#10;                    gap: 18,&#10;                    padding: '20px 22px',&#10;                    borderRadius: 12,&#10;                    background: 'rgba(59,130,246,0.08)',&#10;                }}&gt;&#10;                    &lt;Box style={{&#10;                        width: 44, height: 44, borderRadius: 12,&#10;                        background: 'rgba(59,130,246,0.15)',&#10;                        justifyContent: 'center', alignItems: 'center',&#10;                    }}&gt;&#10;                        &lt;FAIcon name={icon} style={{ fill: '#3B82F6', width: 22, height: 22 }} /&gt;&#10;                    &lt;/Box&gt;&#10;                    &lt;Box style={{ flexDirection: 'column', gap: 6, flex: 1 }}&gt;&#10;                        &lt;Text style={{ fontSize: 21, fontWeight: 'bold', color: '#0F172A' }}&gt;{title}&lt;/Text&gt;&#10;                        &lt;Text style={{ fontSize: 18, lineHeight: 1.6, color: 'rgba(15,23,42,0.7)' }}&gt;{desc}&lt;/Text&gt;&#10;                    &lt;/Box&gt;&#10;                &lt;/Box&gt;&#10;            ))}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8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毫秒级会话检索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1638300" y="2066925"/>
            <a:ext cx="2667000" cy="26670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476250" dist="190500" dir="5400000">
              <a:srgbClr val="3B82F6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781175" y="2686050"/>
            <a:ext cx="23907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PingFang SC"/>
                <a:ea typeface="PingFang SC"/>
              </a:rPr>
              <a:t>100%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2447925" y="386715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全量可检索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2105025" y="4962525"/>
            <a:ext cx="1743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F172A">
                    <a:alpha val="55000"/>
                  </a:srgbClr>
                </a:solidFill>
                <a:latin typeface="PingFang SC"/>
                <a:ea typeface="PingFang SC"/>
              </a:rPr>
              <a:t>毫秒级响应</a:t>
            </a:r>
            <a:r>
              <a:rPr lang="en-US" sz="1350">
                <a:solidFill>
                  <a:srgbClr val="0F172A">
                    <a:alpha val="55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350">
                <a:solidFill>
                  <a:srgbClr val="0F172A">
                    <a:alpha val="55000"/>
                  </a:srgbClr>
                </a:solidFill>
                <a:latin typeface="PingFang SC"/>
                <a:ea typeface="PingFang SC"/>
              </a:rPr>
              <a:t>多维定位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5638800" y="933450"/>
            <a:ext cx="5867400" cy="1352550"/>
          </a:xfrm>
          <a:prstGeom prst="roundRect">
            <a:avLst>
              <a:gd name="adj" fmla="val 8451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32" name=""/>
          <p:cNvSpPr/>
          <p:nvPr/>
        </p:nvSpPr>
        <p:spPr>
          <a:xfrm rot="0" flipH="0" flipV="0">
            <a:off x="5848350" y="11239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53125" y="1228725"/>
            <a:ext cx="209550" cy="209550"/>
          </a:xfrm>
          <a:prstGeom prst="rect">
            <a:avLst/>
          </a:prstGeom>
          <a:ln/>
        </p:spPr>
      </p:pic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438900" y="1123950"/>
            <a:ext cx="4857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多维检索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438900" y="1428750"/>
            <a:ext cx="4857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关键词、联系人、会话类型、时间范围交叉筛选，快速定位目标对话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5638800" y="2495550"/>
            <a:ext cx="5867400" cy="1352550"/>
          </a:xfrm>
          <a:prstGeom prst="roundRect">
            <a:avLst>
              <a:gd name="adj" fmla="val 8451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37" name=""/>
          <p:cNvSpPr/>
          <p:nvPr/>
        </p:nvSpPr>
        <p:spPr>
          <a:xfrm rot="0" flipH="0" flipV="0">
            <a:off x="5848350" y="26860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53125" y="2790825"/>
            <a:ext cx="209550" cy="209550"/>
          </a:xfrm>
          <a:prstGeom prst="rect">
            <a:avLst/>
          </a:prstGeom>
          <a:ln/>
        </p:spPr>
      </p:pic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438900" y="2686050"/>
            <a:ext cx="4857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时间线浏览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438900" y="2990850"/>
            <a:ext cx="48577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按时间顺序展示完整会话，滚动自动加载更早记录，上下文一目了然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5638800" y="4057650"/>
            <a:ext cx="5867400" cy="1019175"/>
          </a:xfrm>
          <a:prstGeom prst="roundRect">
            <a:avLst>
              <a:gd name="adj" fmla="val 1121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5848350" y="424815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53125" y="4352925"/>
            <a:ext cx="209550" cy="209550"/>
          </a:xfrm>
          <a:prstGeom prst="rect">
            <a:avLst/>
          </a:prstGeom>
          <a:ln/>
        </p:spPr>
      </p:pic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438900" y="4248150"/>
            <a:ext cx="4857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中英双语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38900" y="4552950"/>
            <a:ext cx="48577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管理后台支持中英文切换，满足跨国团队与外资合规要求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5638800" y="5286375"/>
            <a:ext cx="5867400" cy="1019175"/>
          </a:xfrm>
          <a:prstGeom prst="roundRect">
            <a:avLst>
              <a:gd name="adj" fmla="val 11215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5848350" y="5476875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953125" y="5581650"/>
            <a:ext cx="209550" cy="209550"/>
          </a:xfrm>
          <a:prstGeom prst="rect">
            <a:avLst/>
          </a:prstGeom>
          <a:ln/>
        </p:spPr>
      </p:pic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438900" y="5476875"/>
            <a:ext cx="48577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结果可追溯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6438900" y="5781675"/>
            <a:ext cx="48577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检索条件与查看记录均留痕，满足审计与合规调阅要求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53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会话审查控制台&lt;/Text&gt;&#10;    &lt;/Box&gt;&#10;&#10;    {/* B 内容区 */}&#10;    &lt;Box style={{ flex: 1, flexDirection: 'column', gap: 24, height: 520 }}&gt;&#10;        {/* 上方大图 */}&#10;        &lt;Box style={{ width: 1136, height: 286, borderRadius: 16, overflow: 'hidden' }}&gt;&#10;            &lt;Image&#10;                src=&quot;resources/images/console_review.png&quot;&#10;                style={{ width: '100%', height: '100%', objectFit: 'cover' }}&#10;            /&gt;&#10;        &lt;/Box&gt;&#10;&#10;        {/* 下方 3 卡片 */}&#10;        &lt;Box style={{ flexDirection: 'row', gap: 24, height: 210, alignItems: 'stretch' }}&gt;&#10;            {[&#10;                ['columns', '三栏审查', '员工 / 联系人选择 → 会话列表 → 消息时间线，信息层级清晰'],&#10;                ['comment-dots', '气泡还原', '还原企业微信聊天样式，阅读体验与原生对话一致'],&#10;                ['user-shield', '权限管控', '授权管理员可调阅，企业微信 OAuth 登录，操作全程留痕'],&#10;            ].map(([icon, title, desc], idx) =&gt; (&#10;                &lt;Box key={idx} style={{&#10;                    flex: 1,&#10;                    borderRadius: 12,&#10;                    background: 'rgba(59,130,246,0.08)',&#10;                    padding: 22,&#10;                    flexDirection: 'column',&#10;                    gap: 12,&#10;                }}&gt;&#10;                    &lt;Box style={{ flexDirection: 'row', alignItems: 'center', gap: 12 }}&gt;&#10;                        &lt;Box style={{&#10;                            width: 40, height: 40, borderRadius: 10,&#10;                            background: 'rgba(59,130,246,0.15)',&#10;                            justifyContent: 'center', alignItems: 'center',&#10;                        }}&gt;&#10;                            &lt;FAIcon name={icon} style={{ fill: '#3B82F6', width: 20, height: 20 }} /&gt;&#10;                        &lt;/Box&gt;&#10;                        &lt;Text style={{ fontSize: 21, fontWeight: 'bold', color: '#0F172A' }}&gt;{title}&lt;/Text&gt;&#10;                    &lt;/Box&gt;&#10;                    &lt;Text style={{ fontSize: 18, lineHeight: 1.55, color: 'rgba(15,23,42,0.7)' }}&gt;{desc}&lt;/Text&gt;&#10;                &lt;/Box&gt;&#10;            ))}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09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会话审查控制台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85800" y="1143000"/>
            <a:ext cx="10820400" cy="2724150"/>
          </a:xfrm>
          <a:prstGeom prst="roundRect">
            <a:avLst>
              <a:gd name="adj" fmla="val 5594"/>
            </a:avLst>
          </a:prstGeom>
          <a:ln/>
        </p:spPr>
        <p:txBody>
          <a:bodyPr/>
          <a:p/>
        </p:txBody>
      </p:sp>
      <p:pic>
        <p:nvPicPr>
          <p:cNvPr id="257" name=""/>
          <p:cNvPicPr>
            <a:picLocks noChangeAspect="1"/>
          </p:cNvPicPr>
          <p:nvPr/>
        </p:nvPicPr>
        <p:blipFill>
          <a:blip r:embed="rId1"/>
          <a:srcRect l="0" t="29912" r="0" b="29912"/>
          <a:stretch>
            <a:fillRect/>
          </a:stretch>
        </p:blipFill>
        <p:spPr>
          <a:xfrm rot="0" flipH="0" flipV="0">
            <a:off x="685800" y="1143000"/>
            <a:ext cx="10820400" cy="2724150"/>
          </a:xfrm>
          <a:custGeom>
            <a:pathLst>
              <a:path w="1136" h="286">
                <a:moveTo>
                  <a:pt x="1120" y="0"/>
                </a:moveTo>
                <a:cubicBezTo>
                  <a:pt x="1129" y="0"/>
                  <a:pt x="1136" y="7"/>
                  <a:pt x="1136" y="16"/>
                </a:cubicBezTo>
                <a:lnTo>
                  <a:pt x="1136" y="270"/>
                </a:lnTo>
                <a:cubicBezTo>
                  <a:pt x="1136" y="279"/>
                  <a:pt x="1129" y="286"/>
                  <a:pt x="1120" y="286"/>
                </a:cubicBezTo>
                <a:lnTo>
                  <a:pt x="16" y="286"/>
                </a:lnTo>
                <a:cubicBezTo>
                  <a:pt x="7" y="286"/>
                  <a:pt x="0" y="279"/>
                  <a:pt x="0" y="27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1120" y="0"/>
                </a:lnTo>
                <a:close/>
              </a:path>
            </a:pathLst>
          </a:custGeom>
          <a:ln/>
        </p:spPr>
      </p:pic>
      <p:sp>
        <p:nvSpPr>
          <p:cNvPr id="258" name=""/>
          <p:cNvSpPr/>
          <p:nvPr/>
        </p:nvSpPr>
        <p:spPr>
          <a:xfrm rot="0" flipH="0" flipV="0">
            <a:off x="685800" y="4095750"/>
            <a:ext cx="3457575" cy="2000250"/>
          </a:xfrm>
          <a:prstGeom prst="roundRect">
            <a:avLst>
              <a:gd name="adj" fmla="val 5714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59" name=""/>
          <p:cNvSpPr/>
          <p:nvPr/>
        </p:nvSpPr>
        <p:spPr>
          <a:xfrm rot="0" flipH="0" flipV="0">
            <a:off x="895350" y="4305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90600" y="4400550"/>
            <a:ext cx="190500" cy="190500"/>
          </a:xfrm>
          <a:prstGeom prst="rect">
            <a:avLst/>
          </a:prstGeom>
          <a:ln/>
        </p:spPr>
      </p:pic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390650" y="437197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三栏审查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95350" y="4800600"/>
            <a:ext cx="30384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员工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/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联系人选择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会话列表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消息时间线，信息层级清晰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4371975" y="4095750"/>
            <a:ext cx="3448050" cy="2000250"/>
          </a:xfrm>
          <a:prstGeom prst="roundRect">
            <a:avLst>
              <a:gd name="adj" fmla="val 5714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4581525" y="4305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676775" y="4400550"/>
            <a:ext cx="190500" cy="190500"/>
          </a:xfrm>
          <a:prstGeom prst="rect">
            <a:avLst/>
          </a:prstGeom>
          <a:ln/>
        </p:spPr>
      </p:pic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5076825" y="437197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气泡还原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581525" y="4800600"/>
            <a:ext cx="3028950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还原企业微信聊天样式，阅读体验与原生对话一致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8048625" y="4095750"/>
            <a:ext cx="3457575" cy="2000250"/>
          </a:xfrm>
          <a:prstGeom prst="roundRect">
            <a:avLst>
              <a:gd name="adj" fmla="val 5714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8258175" y="43053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3B82F6">
              <a:alpha val="15000"/>
            </a:srgbClr>
          </a:solidFill>
          <a:ln/>
        </p:spPr>
        <p:txBody>
          <a:bodyPr/>
          <a:p/>
        </p:txBody>
      </p:sp>
      <p:pic>
        <p:nvPicPr>
          <p:cNvPr id="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353425" y="4400550"/>
            <a:ext cx="190500" cy="190500"/>
          </a:xfrm>
          <a:prstGeom prst="rect">
            <a:avLst/>
          </a:prstGeom>
          <a:ln/>
        </p:spPr>
      </p:pic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753475" y="437197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PingFang SC"/>
                <a:ea typeface="PingFang SC"/>
              </a:rPr>
              <a:t>权限管控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8258175" y="4800600"/>
            <a:ext cx="3038475" cy="638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授权管理员可调阅，企业微信</a:t>
            </a:r>
            <a:r>
              <a:rPr lang="en-US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 OAuth </a:t>
            </a:r>
            <a:r>
              <a:rPr lang="zh-CN" sz="1350">
                <a:solidFill>
                  <a:srgbClr val="0F172A">
                    <a:alpha val="70000"/>
                  </a:srgbClr>
                </a:solidFill>
                <a:latin typeface="PingFang SC"/>
                <a:ea typeface="PingFang SC"/>
              </a:rPr>
              <a:t>登录，操作全程留痕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1049000" y="63055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安全与合规能力&lt;/Text&gt;&#10;    &lt;/Box&gt;&#10;&#10;    {/* B 内容区 */}&#10;    &lt;Box style={{ flex: 1, flexDirection: 'row', gap: 28, height: 520 }}&gt;&#10;        {/* 左栏 60% 数据安全 */}&#10;        &lt;Box style={{&#10;            width: 680,&#10;            height: 520,&#10;            borderRadius: 16,&#10;            padding: 36,&#10;            background: 'linear-gradient(135deg, #3B82F6 0%, #06B6D4 100%)',&#10;            flexDirection: 'column',&#10;            gap: 28,&#10;        }}&gt;&#10;            &lt;Box style={{ flexDirection: 'row', alignItems: 'center', gap: 14 }}&gt;&#10;                &lt;Box style={{&#10;                    width: 48, height: 48, borderRadius: 14,&#10;                    background: 'rgba(255,255,255,0.2)',&#10;                    justifyContent: 'center', alignItems: 'center',&#10;                }}&gt;&#10;                    &lt;FAIcon name='lock' style={{ fill: '#ffffff', width: 26, height: 26 }} /&gt;&#10;                &lt;/Box&gt;&#10;                &lt;Text style={{ fontSize: 28, fontWeight: 'bold', color: '#ffffff' }}&gt;数据安全&lt;/Text&gt;&#10;            &lt;/Box&gt;&#10;            &lt;Box style={{ flexDirection: 'column', gap: 20, flex: 1, justifyContent: 'center' }}&gt;&#10;                &lt;Box style={{ flexDirection: 'row', gap: 14, alignItems: 'flex-start' }}&gt;&#10;                    &lt;FAIcon name='key' style={{ fill: '#ffffff', width: 20, height: 20, marginTop: 4, opacity: 0.9 }} /&gt;&#10;                    &lt;Text style={{ fontSize: 19, lineHeight: 1.6, color: 'rgba(255,255,255,0.95)', flex: 1 }}&gt;&#10;                        RSA + AES 端到端解密，支持 publickey_ver 密钥版本化轮换，历史消息仍可解密。&#10;                    &lt;/Text&gt;&#10;                &lt;/Box&gt;&#10;                &lt;Box style={{ flexDirection: 'row', gap: 14, alignItems: 'flex-start' }}&gt;&#10;                    &lt;FAIcon name='shield-alt' style={{ fill: '#ffffff', width: 20, height: 20, marginTop: 4, opacity: 0.9 }} /&gt;&#10;                    &lt;Text style={{ fontSize: 19, lineHeight: 1.6, color: 'rgba(255,255,255,0.95)', flex: 1 }}&gt;&#10;                        多租户数据隔离：tenant_id 级权限边界，所有查询按会话租户严格过滤。&#10;                    &lt;/Text&gt;&#10;                &lt;/Box&gt;&#10;                &lt;Box style={{ flexDirection: 'row', gap: 14, alignItems: 'flex-start' }}&gt;&#10;                    &lt;FAIcon name='database' style={{ fill: '#ffffff', width: 20, height: 20, marginTop: 4, opacity: 0.9 }} /&gt;&#10;                    &lt;Text style={{ fontSize: 19, lineHeight: 1.6, color: 'rgba(255,255,255,0.95)', flex: 1 }}&gt;&#10;                        可插拔媒体存储：本地磁盘或对象存储，媒体文件按 magic-byte 校验。&#10;                    &lt;/Text&gt;&#10;                &lt;/Box&gt;&#10;                &lt;Box style={{ flexDirection: 'row', gap: 14, alignItems: 'flex-start' }}&gt;&#10;                    &lt;FAIcon name='cloud' style={{ fill: '#ffffff', width: 20, height: 20, marginTop: 4, opacity: 0.9 }} /&gt;&#10;                    &lt;Text style={{ fontSize: 19, lineHeight: 1.6, color: 'rgba(255,255,255,0.95)', flex: 1 }}&gt;&#10;                        消息与媒体资源分离存储，加密链路可控，降低数据泄露风险。&#10;                    &lt;/Text&gt;&#10;                &lt;/Box&gt;&#10;            &lt;/Box&gt;&#10;        &lt;/Box&gt;&#10;&#10;        {/* 右栏 40% 合规审计 */}&#10;        &lt;Box style={{&#10;            width: 428,&#10;            height: 520,&#10;            borderRadius: 16,&#10;            background: '#ffffff',&#10;            boxShadow: '0 4px 20px rgba(15,23,42,0.08)',&#10;            overflow: 'hidden',&#10;            flexDirection: 'column',&#10;        }}&gt;&#10;            &lt;Box style={{&#10;                height: 6,&#10;                background: 'linear-gradient(135deg, #06B6D4 0%, #3B82F6 100%)',&#10;            }} /&gt;&#10;            &lt;Box style={{ padding: '30px 32px', flexDirection: 'column', gap: 24, flex: 1 }}&gt;&#10;                &lt;Box style={{ flexDirection: 'row', alignItems: 'center', gap: 14 }}&gt;&#10;                    &lt;Box style={{&#10;                        width: 44, height: 44, borderRadius: 12,&#10;                        background: 'rgba(6,182,212,0.12)',&#10;                        justifyContent: 'center', alignItems: 'center',&#10;                    }}&gt;&#10;                        &lt;FAIcon name='user-shield' style={{ fill: '#06B6D4', width: 24, height: 24 }} /&gt;&#10;                    &lt;/Box&gt;&#10;                    &lt;Text style={{ fontSize: 26, fontWeight: 'bold', color: '#0F172A' }}&gt;合规与审计&lt;/Text&gt;&#10;                &lt;/Box&gt;&#10;                &lt;Box style={{ flexDirection: 'column', gap: 20, flex: 1, justifyContent: 'center' }}&gt;&#10;                    &lt;Box style={{ flexDirection: 'row', gap: 14, alignItems: 'flex-start' }}&gt;&#10;                        &lt;FAIcon name='id-card' style={{ fill: '#06B6D4', width: 20, height: 20, marginTop: 4 }} /&gt;&#10;                        &lt;Text style={{ fontSize: 19, lineHeight: 1.6, color: 'rgba(15,23,42,0.85)', flex: 1 }}&gt;&#10;                            管理员通过 WeCom OAuth 登录，身份即企业身份，离职自动失效。&#10;                        &lt;/Text&gt;&#10;                    &lt;/Box&gt;&#10;                    &lt;Box style={{ flexDirection: 'row', gap: 14, alignItems: 'flex-start' }}&gt;&#10;                        &lt;FAIcon name='chart-pie' style={{ fill: '#06B6D4', width: 20, height: 20, marginTop: 4 }} /&gt;&#10;                        &lt;Text style={{ fontSize: 19, lineHeight: 1.6, color: 'rgba(15,23,42,0.85)', flex: 1 }}&gt;&#10;                            消息可达性审计：聚合统计消息到达与丢失情况，不触碰消息内容。&#10;                        &lt;/Text&gt;&#10;                    &lt;/Box&gt;&#10;                    &lt;Box style={{ flexDirection: 'row', gap: 14, alignItems: 'flex-start' }}&gt;&#10;                        &lt;FAIcon name='history' style={{ fill: '#06B6D4', width: 20, height: 20, marginTop: 4 }} /&gt;&#10;                        &lt;Text style={{ fontSize: 19, lineHeight: 1.6, color: 'rgba(15,23,42,0.85)', flex: 1 }}&gt;&#10;                            查看、检索、导出行为全程留痕，满足合规审计要求。&#10;                        &lt;/Text&gt;&#10;                    &lt;/Box&gt;&#10;                    &lt;Box style={{ flexDirection: 'row', gap: 14, alignItems: 'flex-start' }}&gt;&#10;                        &lt;FAIcon name='server' style={{ fill: '#06B6D4', width: 20, height: 20, marginTop: 4 }} /&gt;&#10;                        &lt;Text style={{ fontSize: 19, lineHeight: 1.6, color: 'rgba(15,23,42,0.85)', flex: 1 }}&gt;&#10;                            部署于企业自有云，数据不出域，边界可控。&#10;                        &lt;/Text&gt;&#10;                    &lt;/Box&gt;&#10;                &lt;/Box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10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安全与合规能力</a:t>
            </a:r>
            <a:endParaRPr/>
          </a:p>
        </p:txBody>
      </p:sp>
      <p:sp>
        <p:nvSpPr>
          <p:cNvPr id="12" name=""/>
          <p:cNvSpPr/>
          <p:nvPr/>
        </p:nvSpPr>
        <p:spPr>
          <a:xfrm rot="0" flipH="0" flipV="0">
            <a:off x="685800" y="1143000"/>
            <a:ext cx="6477000" cy="4953000"/>
          </a:xfrm>
          <a:prstGeom prst="roundRect">
            <a:avLst>
              <a:gd name="adj" fmla="val 3077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3" name=""/>
          <p:cNvSpPr/>
          <p:nvPr/>
        </p:nvSpPr>
        <p:spPr>
          <a:xfrm rot="0" flipH="0" flipV="0">
            <a:off x="1028700" y="1485900"/>
            <a:ext cx="457200" cy="457200"/>
          </a:xfrm>
          <a:prstGeom prst="roundRect">
            <a:avLst>
              <a:gd name="adj" fmla="val 29167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pic>
        <p:nvPicPr>
          <p:cNvPr id="1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33475" y="1590675"/>
            <a:ext cx="247650" cy="247650"/>
          </a:xfrm>
          <a:prstGeom prst="rect">
            <a:avLst/>
          </a:prstGeom>
          <a:ln/>
        </p:spPr>
      </p:pic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619250" y="1552575"/>
            <a:ext cx="1066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FFFFFF"/>
                </a:solidFill>
                <a:latin typeface="PingFang SC"/>
                <a:ea typeface="PingFang SC"/>
              </a:rPr>
              <a:t>数据安全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352550" y="2476500"/>
            <a:ext cx="54673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RSA + AES </a:t>
            </a: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端到端解密，支持</a:t>
            </a:r>
            <a:r>
              <a:rPr lang="en-US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 publickey_ver </a:t>
            </a: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密钥版本化轮换，历史消息仍可解密。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352550" y="3362325"/>
            <a:ext cx="54673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多租户数据隔离：</a:t>
            </a:r>
            <a:r>
              <a:rPr lang="en-US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tenant_id </a:t>
            </a: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级权限边界，所有查询按会话租户严格过滤。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352550" y="4248150"/>
            <a:ext cx="54673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可插拔媒体存储：本地磁盘或对象存储，媒体文件按</a:t>
            </a:r>
            <a:r>
              <a:rPr lang="en-US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 magic-byte </a:t>
            </a: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校验。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352550" y="5133975"/>
            <a:ext cx="54673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消息与媒体资源分离存储，加密链路可控，降低数据泄露风险。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7429500" y="1143000"/>
            <a:ext cx="4076700" cy="4953000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7429500" y="1143000"/>
            <a:ext cx="4076700" cy="57150"/>
          </a:xfrm>
          <a:custGeom>
            <a:pathLst>
              <a:path w="428" h="6">
                <a:moveTo>
                  <a:pt x="412" y="0"/>
                </a:moveTo>
                <a:cubicBezTo>
                  <a:pt x="417" y="0"/>
                  <a:pt x="422" y="2"/>
                  <a:pt x="424" y="6"/>
                </a:cubicBezTo>
                <a:lnTo>
                  <a:pt x="4" y="6"/>
                </a:lnTo>
                <a:cubicBezTo>
                  <a:pt x="7" y="2"/>
                  <a:pt x="11" y="0"/>
                  <a:pt x="16" y="0"/>
                </a:cubicBezTo>
                <a:lnTo>
                  <a:pt x="412" y="0"/>
                </a:lnTo>
                <a:close/>
              </a:path>
            </a:pathLst>
          </a:custGeom>
          <a:gradFill>
            <a:gsLst>
              <a:gs pos="0">
                <a:srgbClr val="06B6D4"/>
              </a:gs>
              <a:gs pos="100000">
                <a:srgbClr val="3B82F6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2" name=""/>
          <p:cNvSpPr/>
          <p:nvPr/>
        </p:nvSpPr>
        <p:spPr>
          <a:xfrm rot="0" flipH="0" flipV="0">
            <a:off x="7734300" y="1485900"/>
            <a:ext cx="419100" cy="419100"/>
          </a:xfrm>
          <a:prstGeom prst="roundRect">
            <a:avLst>
              <a:gd name="adj" fmla="val 27273"/>
            </a:avLst>
          </a:prstGeom>
          <a:solidFill>
            <a:srgbClr val="06B6D4">
              <a:alpha val="12000"/>
            </a:srgbClr>
          </a:solidFill>
          <a:ln/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829550" y="1581150"/>
            <a:ext cx="228600" cy="22860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286750" y="1543050"/>
            <a:ext cx="1238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PingFang SC"/>
                <a:ea typeface="PingFang SC"/>
              </a:rPr>
              <a:t>合规与审计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734300" y="2333625"/>
            <a:ext cx="190500" cy="190500"/>
          </a:xfrm>
          <a:prstGeom prst="rect">
            <a:avLst/>
          </a:prstGeom>
          <a:ln/>
        </p:spPr>
      </p:pic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058150" y="2295525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管理员通过</a:t>
            </a:r>
            <a:r>
              <a:rPr lang="en-US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WeCom OAuth </a:t>
            </a: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登录，身份即企业身份，离职自动失效。</a:t>
            </a:r>
            <a:endParaRPr/>
          </a:p>
        </p:txBody>
      </p:sp>
      <p:pic>
        <p:nvPicPr>
          <p:cNvPr id="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34300" y="3219450"/>
            <a:ext cx="190500" cy="190500"/>
          </a:xfrm>
          <a:prstGeom prst="rect">
            <a:avLst/>
          </a:prstGeom>
          <a:ln/>
        </p:spPr>
      </p:pic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8058150" y="3181350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消息可达性审计：聚合统计消息到达与丢失情况，不触碰消息内容。</a:t>
            </a:r>
            <a:endParaRPr/>
          </a:p>
        </p:txBody>
      </p:sp>
      <p:pic>
        <p:nvPicPr>
          <p:cNvPr id="2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734300" y="4105275"/>
            <a:ext cx="190500" cy="190500"/>
          </a:xfrm>
          <a:prstGeom prst="rect">
            <a:avLst/>
          </a:prstGeom>
          <a:ln/>
        </p:spPr>
      </p:pic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058150" y="4067175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查看、检索、导出行为全程留痕，满足合规审计要求。</a:t>
            </a:r>
            <a:endParaRPr/>
          </a:p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734300" y="4991100"/>
            <a:ext cx="190500" cy="19050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058150" y="4953000"/>
            <a:ext cx="31432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部署于企业自有云，数据不出域，边界可控。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11077575" y="63055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10 / 13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1028700" y="2514600"/>
            <a:ext cx="190500" cy="190500"/>
          </a:xfrm>
          <a:prstGeom prst="rect">
            <a:avLst/>
          </a:prstGeom>
          <a:ln/>
        </p:spPr>
      </p:pic>
      <p:pic>
        <p:nvPicPr>
          <p:cNvPr id="36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8"/>
              </a:ext>
            </a:extLst>
          </a:blip>
          <a:stretch>
            <a:fillRect/>
          </a:stretch>
        </p:blipFill>
        <p:spPr>
          <a:xfrm rot="0" flipH="0" flipV="0">
            <a:off x="1028700" y="3400425"/>
            <a:ext cx="190500" cy="190500"/>
          </a:xfrm>
          <a:prstGeom prst="rect">
            <a:avLst/>
          </a:prstGeom>
          <a:ln/>
        </p:spPr>
      </p:pic>
      <p:pic>
        <p:nvPicPr>
          <p:cNvPr id="37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9"/>
              </a:ext>
            </a:extLst>
          </a:blip>
          <a:stretch>
            <a:fillRect/>
          </a:stretch>
        </p:blipFill>
        <p:spPr>
          <a:xfrm rot="0" flipH="0" flipV="0">
            <a:off x="1028700" y="4286250"/>
            <a:ext cx="190500" cy="190500"/>
          </a:xfrm>
          <a:prstGeom prst="rect">
            <a:avLst/>
          </a:prstGeom>
          <a:ln/>
        </p:spPr>
      </p:pic>
      <p:pic>
        <p:nvPicPr>
          <p:cNvPr id="38" name=""/>
          <p:cNvPicPr>
            <a:picLocks noChangeAspect="1"/>
          </p:cNvPicPr>
          <p:nvPr/>
        </p:nvPicPr>
        <p:blipFill>
          <a:blip>
            <a:alphaModFix amt="90000"/>
            <a:extLst>
              <a:ext uri="{96DAC541-7B7A-43D3-8B79-37D633B846F1}">
                <asvg:svgBlip r:embed="rId10"/>
              </a:ext>
            </a:extLst>
          </a:blip>
          <a:stretch>
            <a:fillRect/>
          </a:stretch>
        </p:blipFill>
        <p:spPr>
          <a:xfrm rot="0" flipH="0" flipV="0">
            <a:off x="1028700" y="5172075"/>
            <a:ext cx="190500" cy="190500"/>
          </a:xfrm>
          <a:prstGeom prst="rect">
            <a:avLst/>
          </a:prstGeom>
          <a:ln/>
        </p:spPr>
      </p:pic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9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应用场景&lt;/Text&gt;&#10;    &lt;/Box&gt;&#10;&#10;    {/* B 内容区 */}&#10;    &lt;Box style={{ flex: 1, flexDirection: 'row', gap: 28, height: 520 }}&gt;&#10;        {/* 左大图 */}&#10;        &lt;Box style={{ width: 680, height: 520, borderRadius: 16, overflow: 'hidden' }}&gt;&#10;            &lt;Image&#10;                src=&quot;resources/images/scenario.png&quot;&#10;                style={{ width: '100%', height: '100%', objectFit: 'cover' }}&#10;            /&gt;&#10;        &lt;/Box&gt;&#10;&#10;        {/* 右文字卡 */}&#10;        &lt;Box style={{&#10;            width: 428,&#10;            height: 520,&#10;            borderRadius: 16,&#10;            padding: 32,&#10;            background: 'linear-gradient(135deg, #3B82F6 0%, #06B6D4 100%)',&#10;            flexDirection: 'column',&#10;            justifyContent: 'space-between',&#10;        }}&gt;&#10;            &lt;Box style={{ flexDirection: 'column', gap: 20 }}&gt;&#10;                &lt;Text style={{ fontSize: 26, fontWeight: 'bold', color: '#ffffff' }}&gt;4 大典型场景&lt;/Text&gt;&#10;                &lt;Box style={{ flexDirection: 'column', gap: 18 }}&gt;&#10;                    &lt;Box style={{ flexDirection: 'row', gap: 12, alignItems: 'flex-start' }}&gt;&#10;                        &lt;FAIcon name='building' style={{ fill: '#ffffff', width: 20, height: 20, marginTop: 4, opacity: 0.95 }} /&gt;&#10;                        &lt;Text style={{ fontSize: 18, lineHeight: 1.6, color: 'rgba(255,255,255,0.95)', flex: 1 }}&gt;&#10;                            &lt;span style={{ fontWeight: 'bold' }}&gt;金融保险销售合规：&lt;/span&gt;理财销售留痕、双录补充、适当性管理。&#10;                        &lt;/Text&gt;&#10;                    &lt;/Box&gt;&#10;                    &lt;Box style={{ flexDirection: 'row', gap: 12, alignItems: 'flex-start' }}&gt;&#10;                        &lt;FAIcon name='headset' style={{ fill: '#ffffff', width: 20, height: 20, marginTop: 4, opacity: 0.95 }} /&gt;&#10;                        &lt;Text style={{ fontSize: 18, lineHeight: 1.6, color: 'rgba(255,255,255,0.95)', flex: 1 }}&gt;&#10;                            &lt;span style={{ fontWeight: 'bold' }}&gt;客户成功客诉举证：&lt;/span&gt;服务承诺还原、客诉处理、服务质检。&#10;                        &lt;/Text&gt;&#10;                    &lt;/Box&gt;&#10;                    &lt;Box style={{ flexDirection: 'row', gap: 12, alignItems: 'flex-start' }}&gt;&#10;                        &lt;FAIcon name='users' style={{ fill: '#ffffff', width: 20, height: 20, marginTop: 4, opacity: 0.95 }} /&gt;&#10;                        &lt;Text style={{ fontSize: 18, lineHeight: 1.6, color: 'rgba(255,255,255,0.95)', flex: 1 }}&gt;&#10;                            &lt;span style={{ fontWeight: 'bold' }}&gt;私域运营防飞单：&lt;/span&gt;防止员工私加客户、保护渠道价格与客户资产。&#10;                        &lt;/Text&gt;&#10;                    &lt;/Box&gt;&#10;                    &lt;Box style={{ flexDirection: 'row', gap: 12, alignItems: 'flex-start' }}&gt;&#10;                        &lt;FAIcon name='user-check' style={{ fill: '#ffffff', width: 20, height: 20, marginTop: 4, opacity: 0.95 }} /&gt;&#10;                        &lt;Text style={{ fontSize: 18, lineHeight: 1.6, color: 'rgba(255,255,255,0.95)', flex: 1 }}&gt;&#10;                            &lt;span style={{ fontWeight: 'bold' }}&gt;离职继承与交接：&lt;/span&gt;客户关系不随人走，会话记录可完整继承。&#10;                        &lt;/Text&gt;&#10;                    &lt;/Box&gt;&#10;                &lt;/Box&gt;&#10;            &lt;/Box&gt;&#10;            &lt;Box style={{&#10;                borderRadius: 12,&#10;                background: 'rgba(255,255,255,0.2)',&#10;                padding: 16,&#10;                flexDirection: 'column',&#10;                gap: 4,&#10;            }}&gt;&#10;                &lt;Text style={{ fontSize: 36, fontWeight: 'bold', color: '#ffffff', lineHeight: 1 }}&gt;4 大场景&lt;/Text&gt;&#10;                &lt;Text style={{ fontSize: 16, color: 'rgba(255,255,255,0.9)' }}&gt;覆盖销售、客服、运营、HR 等高频需求&lt;/Text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11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应用场景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85800" y="1143000"/>
            <a:ext cx="6477000" cy="4953000"/>
          </a:xfrm>
          <a:prstGeom prst="roundRect">
            <a:avLst>
              <a:gd name="adj" fmla="val 3077"/>
            </a:avLst>
          </a:prstGeom>
          <a:ln/>
        </p:spPr>
        <p:txBody>
          <a:bodyPr/>
          <a:p/>
        </p:txBody>
      </p:sp>
      <p:pic>
        <p:nvPicPr>
          <p:cNvPr id="43" name=""/>
          <p:cNvPicPr>
            <a:picLocks noChangeAspect="1"/>
          </p:cNvPicPr>
          <p:nvPr/>
        </p:nvPicPr>
        <p:blipFill>
          <a:blip r:embed="rId1"/>
          <a:srcRect l="9027" t="0" r="9027" b="0"/>
          <a:stretch>
            <a:fillRect/>
          </a:stretch>
        </p:blipFill>
        <p:spPr>
          <a:xfrm rot="0" flipH="0" flipV="0">
            <a:off x="685800" y="1143000"/>
            <a:ext cx="6477000" cy="4953000"/>
          </a:xfrm>
          <a:custGeom>
            <a:pathLst>
              <a:path w="680" h="520">
                <a:moveTo>
                  <a:pt x="664" y="0"/>
                </a:moveTo>
                <a:cubicBezTo>
                  <a:pt x="673" y="0"/>
                  <a:pt x="680" y="7"/>
                  <a:pt x="680" y="16"/>
                </a:cubicBezTo>
                <a:lnTo>
                  <a:pt x="680" y="504"/>
                </a:lnTo>
                <a:cubicBezTo>
                  <a:pt x="680" y="513"/>
                  <a:pt x="673" y="520"/>
                  <a:pt x="664" y="520"/>
                </a:cubicBezTo>
                <a:lnTo>
                  <a:pt x="16" y="520"/>
                </a:lnTo>
                <a:cubicBezTo>
                  <a:pt x="7" y="520"/>
                  <a:pt x="0" y="513"/>
                  <a:pt x="0" y="50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664" y="0"/>
                </a:lnTo>
                <a:close/>
              </a:path>
            </a:pathLst>
          </a:custGeom>
          <a:ln/>
        </p:spPr>
      </p:pic>
      <p:sp>
        <p:nvSpPr>
          <p:cNvPr id="44" name=""/>
          <p:cNvSpPr/>
          <p:nvPr/>
        </p:nvSpPr>
        <p:spPr>
          <a:xfrm rot="0" flipH="0" flipV="0">
            <a:off x="7429500" y="1143000"/>
            <a:ext cx="4076700" cy="4953000"/>
          </a:xfrm>
          <a:prstGeom prst="roundRect">
            <a:avLst>
              <a:gd name="adj" fmla="val 3738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734300" y="1447800"/>
            <a:ext cx="3467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PingFang SC"/>
                <a:ea typeface="PingFang SC"/>
              </a:rPr>
              <a:t>4 </a:t>
            </a:r>
            <a:r>
              <a:rPr lang="zh-CN" sz="1950" b="1">
                <a:solidFill>
                  <a:srgbClr val="FFFFFF"/>
                </a:solidFill>
                <a:latin typeface="PingFang SC"/>
                <a:ea typeface="PingFang SC"/>
              </a:rPr>
              <a:t>大典型场景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039100" y="19431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金融保险销售合规：</a:t>
            </a:r>
            <a:r>
              <a:rPr lang="zh-CN" sz="1350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理财销售留痕、双录补充、适当性管理。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39100" y="27813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客户成功客诉举证：</a:t>
            </a:r>
            <a:r>
              <a:rPr lang="zh-CN" sz="1350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服务承诺还原、客诉处理、服务质检。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39100" y="36195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私域运营防飞单：</a:t>
            </a:r>
            <a:r>
              <a:rPr lang="zh-CN" sz="1350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防止员工私加客户、保护渠道价格与客户资产。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039100" y="4457700"/>
            <a:ext cx="3162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离职继承与交接：</a:t>
            </a:r>
            <a:r>
              <a:rPr lang="zh-CN" sz="1350">
                <a:solidFill>
                  <a:srgbClr val="FFFFFF">
                    <a:alpha val="95000"/>
                  </a:srgbClr>
                </a:solidFill>
                <a:latin typeface="PingFang SC"/>
                <a:ea typeface="PingFang SC"/>
              </a:rPr>
              <a:t>客户关系不随人走，会话记录可完整继承。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7734300" y="5124450"/>
            <a:ext cx="3467100" cy="952500"/>
          </a:xfrm>
          <a:prstGeom prst="roundRect">
            <a:avLst>
              <a:gd name="adj" fmla="val 12000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7886700" y="5276850"/>
            <a:ext cx="3162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PingFang SC"/>
                <a:ea typeface="PingFang SC"/>
              </a:rPr>
              <a:t>4 </a:t>
            </a:r>
            <a:r>
              <a:rPr lang="zh-CN" sz="2700" b="1">
                <a:solidFill>
                  <a:srgbClr val="FFFFFF"/>
                </a:solidFill>
                <a:latin typeface="PingFang SC"/>
                <a:ea typeface="PingFang SC"/>
              </a:rPr>
              <a:t>大场景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886700" y="5734050"/>
            <a:ext cx="31623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覆盖销售、客服、运营、</a:t>
            </a:r>
            <a:r>
              <a:rPr lang="en-US" sz="12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HR </a:t>
            </a:r>
            <a:r>
              <a:rPr lang="zh-CN" sz="1200">
                <a:solidFill>
                  <a:srgbClr val="FFFFFF">
                    <a:alpha val="90000"/>
                  </a:srgbClr>
                </a:solidFill>
                <a:latin typeface="PingFang SC"/>
                <a:ea typeface="PingFang SC"/>
              </a:rPr>
              <a:t>等高频需求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11106150" y="63055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11 / 13</a:t>
            </a:r>
            <a:endParaRPr/>
          </a:p>
        </p:txBody>
      </p:sp>
      <p:pic>
        <p:nvPicPr>
          <p:cNvPr id="55" name="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734300" y="1981200"/>
            <a:ext cx="190500" cy="190500"/>
          </a:xfrm>
          <a:prstGeom prst="rect">
            <a:avLst/>
          </a:prstGeom>
          <a:ln/>
        </p:spPr>
      </p:pic>
      <p:pic>
        <p:nvPicPr>
          <p:cNvPr id="56" name="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734300" y="2819400"/>
            <a:ext cx="190500" cy="190500"/>
          </a:xfrm>
          <a:prstGeom prst="rect">
            <a:avLst/>
          </a:prstGeom>
          <a:ln/>
        </p:spPr>
      </p:pic>
      <p:pic>
        <p:nvPicPr>
          <p:cNvPr id="57" name="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734300" y="3657600"/>
            <a:ext cx="190500" cy="190500"/>
          </a:xfrm>
          <a:prstGeom prst="rect">
            <a:avLst/>
          </a:prstGeom>
          <a:ln/>
        </p:spPr>
      </p:pic>
      <p:pic>
        <p:nvPicPr>
          <p:cNvPr id="58" name=""/>
          <p:cNvPicPr>
            <a:picLocks noChangeAspect="1"/>
          </p:cNvPicPr>
          <p:nvPr/>
        </p:nvPicPr>
        <p:blipFill>
          <a:blip>
            <a:alphaModFix amt="95000"/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734300" y="4495800"/>
            <a:ext cx="190500" cy="190500"/>
          </a:xfrm>
          <a:prstGeom prst="rect">
            <a:avLst/>
          </a:prstGeom>
          <a:ln/>
        </p:spPr>
      </p:pic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9" name="" descr="&lt;Slide style={{&#10;    padding: '20px 72px',&#10;    fontFamily: &quot;'PingFang SC','Source Han Sans SC','Microsoft YaHei',sans-serif&quot;,&#10;    background: '#ffffff',&#10;    flexDirection: 'column',&#10;}}&gt;&#10;    {/* A 标题块 */}&#10;    &lt;Box style={{ height: 100, justifyContent: 'center' }}&gt;&#10;        &lt;Text style={{ fontSize: 34, fontWeight: 'bold', color: '#0F172A' }}&gt;技术架构与部署&lt;/Text&gt;&#10;    &lt;/Box&gt;&#10;&#10;    {/* B 内容区 */}&#10;    &lt;Box style={{ flex: 1, flexDirection: 'row', gap: 28, height: 520 }}&gt;&#10;        {/* 左侧架构 SVG */}&#10;        &lt;Box style={{&#10;            width: 560,&#10;            height: 520,&#10;            borderRadius: 16,&#10;            background: 'rgba(59,130,246,0.06)',&#10;            justifyContent: 'center',&#10;            alignItems: 'center',&#10;        }}&gt;&#10;            &lt;svg width={520} height={480} viewBox='0 0 520 480' style={{ fontFamily: &quot;'PingFang SC','Source Han Sans SC','Microsoft YaHei',sans-serif&quot; }}&gt;&#10;                &lt;text x='260' y='28' textAnchor='middle' fontSize='18' fontWeight='bold' fill='#0F172A'&gt;数据流与部署架构&lt;/text&gt;&#10;&#10;                {/* 节点 1 */}&#10;                &lt;rect x='150' y='45' width='220' height='56' rx='12' fill='#3B82F6' /&gt;&#10;                &lt;text x='260' y='80' textAnchor='middle' fontSize='16' fill='#ffffff' fontWeight='600'&gt;企业微信&lt;/text&gt;&#10;&#10;                &lt;line x1='260' y1='101' x2='260' y2='135' stroke='#3B82F6' strokeWidth='3' /&gt;&#10;                &lt;polygon points='260,142 255,135 265,135' fill='#3B82F6' /&gt;&#10;&#10;                {/* 节点 2 */}&#10;                &lt;rect x='150' y='142' width='220' height='56' rx='12' fill='#06B6D4' /&gt;&#10;                &lt;text x='260' y='177' textAnchor='middle' fontSize='16' fill='#ffffff' fontWeight='600'&gt;拉取加密消息&lt;/text&gt;&#10;&#10;                &lt;line x1='260' y1='198' x2='260' y2='232' stroke='#06B6D4' strokeWidth='3' /&gt;&#10;                &lt;polygon points='260,239 255,232 265,232' fill='#06B6D4' /&gt;&#10;&#10;                {/* 节点 3 */}&#10;                &lt;rect x='150' y='239' width='220' height='56' rx='12' fill='#3B82F6' /&gt;&#10;                &lt;text x='260' y='274' textAnchor='middle' fontSize='16' fill='#ffffff' fontWeight='600'&gt;RSA + AES 解密&lt;/text&gt;&#10;&#10;                &lt;line x1='260' y1='295' x2='260' y2='329' stroke='#3B82F6' strokeWidth='3' /&gt;&#10;                &lt;polygon points='260,336 255,329 265,329' fill='#3B82F6' /&gt;&#10;&#10;                {/* 节点 4 */}&#10;                &lt;rect x='150' y='336' width='220' height='56' rx='12' fill='#06B6D4' /&gt;&#10;                &lt;text x='260' y='371' textAnchor='middle' fontSize='16' fill='#ffffff' fontWeight='600'&gt;PostgreSQL 存储&lt;/text&gt;&#10;&#10;                &lt;line x1='260' y1='392' x2='260' y2='426' stroke='#06B6D4' strokeWidth='3' /&gt;&#10;                &lt;polygon points='260,433 255,426 265,426' fill='#06B6D4' /&gt;&#10;&#10;                {/* 节点 5 */}&#10;                &lt;rect x='150' y='433' width='220' height='56' rx='12' fill='#3B82F6' /&gt;&#10;                &lt;text x='260' y='468' textAnchor='middle' fontSize='16' fill='#ffffff' fontWeight='600'&gt;审查控制台&lt;/text&gt;&#10;&#10;                {/* 媒体存储支线 */}&#10;                &lt;line x1='315' y1='364' x2='380' y2='364' stroke='#06B6D4' strokeWidth='2' strokeDasharray='6 4' /&gt;&#10;                &lt;rect x='390' y='336' width='100' height='56' rx='10' fill='#ffffff' stroke='#06B6D4' strokeWidth='2' /&gt;&#10;                &lt;text x='440' y='371' textAnchor='middle' fontSize='14' fill='#06B6D4' fontWeight='600'&gt;媒体存储&lt;/text&gt;&#10;            &lt;/svg&gt;&#10;        &lt;/Box&gt;&#10;&#10;        {/* 右侧洞察 */}&#10;        &lt;Box style={{&#10;            width: 548,&#10;            height: 520,&#10;            borderRadius: 16,&#10;            background: '#ffffff',&#10;            boxShadow: '0 4px 20px rgba(15,23,42,0.08)',&#10;            padding: 32,&#10;            flexDirection: 'column',&#10;            justifyContent: 'space-between',&#10;        }}&gt;&#10;            &lt;Box style={{ flexDirection: 'column', gap: 20 }}&gt;&#10;                &lt;Text style={{ fontSize: 26, fontWeight: 'bold', color: '#0F172A' }}&gt;部署与运维优势&lt;/Text&gt;&#10;                &lt;Box style={{ flexDirection: 'column', gap: 18 }}&gt;&#10;                    &lt;Box style={{ flexDirection: 'row', gap: 12, alignItems: 'flex-start' }}&gt;&#10;                        &lt;FAIcon name='cogs' style={{ fill: '#3B82F6', width: 20, height: 20, marginTop: 4 }} /&gt;&#10;                        &lt;Text style={{ fontSize: 18, lineHeight: 1.6, color: 'rgba(15,23,42,0.85)', flex: 1 }}&gt;&#10;                            &lt;span style={{ fontWeight: 'bold' }}&gt;标准组件：&lt;/span&gt;Python FastAPI + PostgreSQL + systemd 定时器，可复用、易运维。&#10;                        &lt;/Text&gt;&#10;                    &lt;/Box&gt;&#10;                    &lt;Box style={{ flexDirection: 'row', gap: 12, alignItems: 'flex-start' }}&gt;&#10;                        &lt;FAIcon name='server' style={{ fill: '#3B82F6', width: 20, height: 20, marginTop: 4 }} /&gt;&#10;                        &lt;Text style={{ fontSize: 18, lineHeight: 1.6, color: 'rgba(15,23,42,0.85)', flex: 1 }}&gt;&#10;                            &lt;span style={{ fontWeight: 'bold' }}&gt;分钟级部署：&lt;/span&gt;阿里云 ECS 自动化脚本一键拉起，服务与定时器版本化管理。&#10;                        &lt;/Text&gt;&#10;                    &lt;/Box&gt;&#10;                    &lt;Box style={{ flexDirection: 'row', gap: 12, alignItems: 'flex-start' }}&gt;&#10;                        &lt;FAIcon name='expand-arrows-alt' style={{ fill: '#3B82F6', width: 20, height: 20, marginTop: 4 }} /&gt;&#10;                        &lt;Text style={{ fontSize: 18, lineHeight: 1.6, color: 'rgba(15,23,42,0.85)', flex: 1 }}&gt;&#10;                            &lt;span style={{ fontWeight: 'bold' }}&gt;弹性扩展：&lt;/span&gt;媒体存储可插拔（本地 → 对象存储），多租户模型支持规模化。&#10;                        &lt;/Text&gt;&#10;                    &lt;/Box&gt;&#10;                    &lt;Box style={{ flexDirection: 'row', gap: 12, alignItems: 'flex-start' }}&gt;&#10;                        &lt;FAIcon name='tools' style={{ fill: '#3B82F6', width: 20, height: 20, marginTop: 4 }} /&gt;&#10;                        &lt;Text style={{ fontSize: 18, lineHeight: 1.6, color: 'rgba(15,23,42,0.85)', flex: 1 }}&gt;&#10;                            &lt;span style={{ fontWeight: 'bold' }}&gt;低运维：&lt;/span&gt;自动同步、自动解密、自动媒体下载，管理员专注审查。&#10;                        &lt;/Text&gt;&#10;                    &lt;/Box&gt;&#10;                &lt;/Box&gt;&#10;            &lt;/Box&gt;&#10;            &lt;Box style={{&#10;                borderRadius: 12,&#10;                background: 'linear-gradient(135deg, rgba(59,130,246,0.1) 0%, rgba(6,182,212,0.1) 100%)',&#10;                padding: 16,&#10;                flexDirection: 'row',&#10;                alignItems: 'center',&#10;                gap: 12,&#10;            }}&gt;&#10;                &lt;FAIcon name='check-circle' style={{ fill: '#3B82F6', width: 28, height: 28 }} /&gt;&#10;                &lt;Text style={{ fontSize: 18, fontWeight: 600, color: '#0F172A' }}&gt;企业自有云部署，数据不出域&lt;/Text&gt;&#10;            &lt;/Box&gt;&#10;        &lt;/Box&gt;&#10;    &lt;/Box&gt;&#10;&#10;    {/* C 页脚条 */}&#10;    &lt;Box style={{ height: 60, flexDirection: 'row', justifyContent: 'space-between', alignItems: 'center' }}&gt;&#10;        &lt;Text style={{ fontSize: 14, color: 'rgba(15,23,42,0.5)' }}&gt;365企微会话存档&lt;/Text&gt;&#10;        &lt;Text style={{ fontSize: 14, color: 'rgba(15,23,42,0.5)' }}&gt;1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85800" y="476250"/>
            <a:ext cx="108204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0F172A"/>
                </a:solidFill>
                <a:latin typeface="PingFang SC"/>
                <a:ea typeface="PingFang SC"/>
              </a:rPr>
              <a:t>技术架构与部署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" y="1143000"/>
            <a:ext cx="5334000" cy="4953000"/>
          </a:xfrm>
          <a:prstGeom prst="roundRect">
            <a:avLst>
              <a:gd name="adj" fmla="val 3077"/>
            </a:avLst>
          </a:prstGeom>
          <a:solidFill>
            <a:srgbClr val="3B82F6">
              <a:alpha val="6000"/>
            </a:srgbClr>
          </a:solidFill>
          <a:ln/>
        </p:spPr>
        <p:txBody>
          <a:bodyPr/>
          <a:p/>
        </p:txBody>
      </p:sp>
      <p:pic>
        <p:nvPicPr>
          <p:cNvPr id="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333500"/>
            <a:ext cx="4953000" cy="4572000"/>
          </a:xfrm>
          <a:prstGeom prst="rect">
            <a:avLst/>
          </a:prstGeom>
          <a:ln/>
        </p:spPr>
      </p:pic>
      <p:sp>
        <p:nvSpPr>
          <p:cNvPr id="64" name=""/>
          <p:cNvSpPr/>
          <p:nvPr/>
        </p:nvSpPr>
        <p:spPr>
          <a:xfrm rot="0" flipH="0" flipV="0">
            <a:off x="6286500" y="1143000"/>
            <a:ext cx="5219700" cy="49530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F172A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6591300" y="1447800"/>
            <a:ext cx="46101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PingFang SC"/>
                <a:ea typeface="PingFang SC"/>
              </a:rPr>
              <a:t>部署与运维优势</a:t>
            </a:r>
            <a:endParaRPr/>
          </a:p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91300" y="1981200"/>
            <a:ext cx="190500" cy="19050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96100" y="1943100"/>
            <a:ext cx="4305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标准组件：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Python FastAPI + PostgreSQL + systemd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定时器，可复用、易运维。</a:t>
            </a:r>
            <a:endParaRPr/>
          </a:p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591300" y="2819400"/>
            <a:ext cx="190500" cy="190500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96100" y="2781300"/>
            <a:ext cx="4305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分钟级部署：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阿里云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ECS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自动化脚本一键拉起，服务与定时器版本化管理。</a:t>
            </a:r>
            <a:endParaRPr/>
          </a:p>
        </p:txBody>
      </p:sp>
      <p:pic>
        <p:nvPicPr>
          <p:cNvPr id="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591300" y="3657600"/>
            <a:ext cx="190500" cy="190500"/>
          </a:xfrm>
          <a:prstGeom prst="rect">
            <a:avLst/>
          </a:prstGeom>
          <a:ln/>
        </p:spPr>
      </p:pic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896100" y="3619500"/>
            <a:ext cx="4305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弹性扩展：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媒体存储可插拔（本地</a:t>
            </a:r>
            <a:r>
              <a:rPr lang="en-US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 → 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对象存储），多租户模型支持规模化。</a:t>
            </a:r>
            <a:endParaRPr/>
          </a:p>
        </p:txBody>
      </p:sp>
      <p:pic>
        <p:nvPicPr>
          <p:cNvPr id="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591300" y="4495800"/>
            <a:ext cx="190500" cy="190500"/>
          </a:xfrm>
          <a:prstGeom prst="rect">
            <a:avLst/>
          </a:prstGeom>
          <a:ln/>
        </p:spPr>
      </p:pic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896100" y="4457700"/>
            <a:ext cx="43053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低运维：</a:t>
            </a:r>
            <a:r>
              <a:rPr lang="zh-CN" sz="1350">
                <a:solidFill>
                  <a:srgbClr val="0F172A">
                    <a:alpha val="85000"/>
                  </a:srgbClr>
                </a:solidFill>
                <a:latin typeface="PingFang SC"/>
                <a:ea typeface="PingFang SC"/>
              </a:rPr>
              <a:t>自动同步、自动解密、自动媒体下载，管理员专注审查。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591300" y="5219700"/>
            <a:ext cx="4610100" cy="571500"/>
          </a:xfrm>
          <a:prstGeom prst="roundRect">
            <a:avLst>
              <a:gd name="adj" fmla="val 20000"/>
            </a:avLst>
          </a:prstGeom>
          <a:gradFill>
            <a:gsLst>
              <a:gs pos="0">
                <a:srgbClr val="3B82F6">
                  <a:alpha val="10000"/>
                </a:srgbClr>
              </a:gs>
              <a:gs pos="100000">
                <a:srgbClr val="06B6D4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743700" y="5372100"/>
            <a:ext cx="266700" cy="266700"/>
          </a:xfrm>
          <a:prstGeom prst="rect">
            <a:avLst/>
          </a:prstGeom>
          <a:ln/>
        </p:spPr>
      </p:pic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124700" y="5400675"/>
            <a:ext cx="2228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PingFang SC"/>
                <a:ea typeface="PingFang SC"/>
              </a:rPr>
              <a:t>企业自有云部署，数据不出域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85800" y="630555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企微会话存档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1077575" y="630555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0F172A">
                    <a:alpha val="50000"/>
                  </a:srgbClr>
                </a:solidFill>
                <a:latin typeface="PingFang SC"/>
                <a:ea typeface="PingFang SC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9" name="" descr="&lt;Slide style={{&#10;    position: 'relative',&#10;    padding: 0,&#10;    fontFamily: &quot;'PingFang SC','Source Han Sans SC','Microsoft YaHei',sans-serif&quot;,&#10;    color: '#ffffff',&#10;    overflow: 'hidden',&#10;}}&gt;&#10;    {/* 全幅背景 */}&#10;    &lt;Box style={{ position: 'absolute', top: 0, left: 0, right: 0, bottom: 0, zIndex: 0 }}&gt;&#10;        &lt;Image&#10;            src=&quot;resources/images/hero_cover.png&quot;&#10;            style={{ width: '100%', height: '100%', objectFit: 'cover' }}&#10;        /&gt;&#10;        &lt;Box style={{&#10;            position: 'absolute',&#10;            top: 0, left: 0, right: 0, bottom: 0,&#10;            background: 'linear-gradient(135deg, rgba(15,23,42,0.9) 0%, rgba(15,23,42,0.55) 50%, rgba(15,23,42,0.2) 100%)',&#10;        }} /&gt;&#10;    &lt;/Box&gt;&#10;&#10;    {/* 内容区 */}&#10;    &lt;Box style={{&#10;        position: 'relative',&#10;        zIndex: 1,&#10;        padding: '60px 72px',&#10;        height: '100%',&#10;        flexDirection: 'column',&#10;        justifyContent: 'center',&#10;        alignItems: 'center',&#10;        gap: 32,&#10;    }}&gt;&#10;        &lt;Text style={{&#10;            fontSize: 44,&#10;            fontWeight: 'bold',&#10;            lineHeight: 1.5,&#10;            color: '#ffffff',&#10;            textAlign: 'center',&#10;            maxWidth: 960,&#10;            textShadow: '0 4px 20px rgba(0,0,0,0.3)',&#10;        }}&gt;&#10;            让每一次企业微信对话&lt;br /&gt;都成为可信赖的合规资产&#10;        &lt;/Text&gt;&#10;        &lt;Box style={{&#10;            flexDirection: 'row',&#10;            alignItems: 'center',&#10;            gap: 16,&#10;            marginTop: 8,&#10;        }}&gt;&#10;            &lt;Box style={{&#10;                padding: '16px 40px',&#10;                borderRadius: 30,&#10;                background: 'linear-gradient(135deg, #3B82F6 0%, #06B6D4 100%)',&#10;                boxShadow: '0 8px 24px rgba(59,130,246,0.35)',&#10;            }}&gt;&#10;                &lt;Text style={{ fontSize: 22, fontWeight: 600, color: '#ffffff' }}&gt;立即预约演示&lt;/Text&gt;&#10;            &lt;/Box&gt;&#10;        &lt;/Box&gt;&#10;        &lt;Text style={{&#10;            fontSize: 20,&#10;            color: 'rgba(255,255,255,0.7)',&#10;            marginTop: 16,&#10;            textAlign: 'center',&#10;        }}&gt;&#10;            365企微会话存档 · 开启会话合规之旅&#10;        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>
            <a:picLocks noChangeAspect="1"/>
          </p:cNvPicPr>
          <p:nvPr/>
        </p:nvPicPr>
        <p:blipFill>
          <a:blip r:embed="rId1"/>
          <a:srcRect l="0" t="5118" r="0" b="5118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90000"/>
                </a:srgbClr>
              </a:gs>
              <a:gs pos="50000">
                <a:srgbClr val="0F172A">
                  <a:alpha val="55000"/>
                </a:srgbClr>
              </a:gs>
              <a:gs pos="100000">
                <a:srgbClr val="0F172A">
                  <a:alpha val="2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790950" y="1857375"/>
            <a:ext cx="4610100" cy="15144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330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让每一次企业微信对话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3300" b="1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0000"/>
                    </a:srgbClr>
                  </a:outerShdw>
                </a:effectLst>
                <a:latin typeface="PingFang SC"/>
                <a:ea typeface="PingFang SC"/>
              </a:rPr>
              <a:t>都成为可信赖的合规资产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5086350" y="3752850"/>
            <a:ext cx="2019300" cy="561975"/>
          </a:xfrm>
          <a:prstGeom prst="roundRect">
            <a:avLst>
              <a:gd name="adj" fmla="val 50847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  <a:effectLst>
            <a:outerShdw blurRad="228600" dist="76200" dir="5400000">
              <a:srgbClr val="3B82F6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5467350" y="390525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PingFang SC"/>
                <a:ea typeface="PingFang SC"/>
              </a:rPr>
              <a:t>立即预约演示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476750" y="4772025"/>
            <a:ext cx="32385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500">
                <a:solidFill>
                  <a:srgbClr val="FFFFFF">
                    <a:alpha val="70000"/>
                  </a:srgbClr>
                </a:solidFill>
                <a:latin typeface="PingFang SC"/>
                <a:ea typeface="PingFang SC"/>
              </a:rPr>
              <a:t>365</a:t>
            </a:r>
            <a:r>
              <a:rPr lang="zh-CN" sz="1500">
                <a:solidFill>
                  <a:srgbClr val="FFFFFF">
                    <a:alpha val="70000"/>
                  </a:srgbClr>
                </a:solidFill>
                <a:latin typeface="PingFang SC"/>
                <a:ea typeface="PingFang SC"/>
              </a:rPr>
              <a:t>企微会话存档</a:t>
            </a:r>
            <a:r>
              <a:rPr lang="en-US" sz="1500">
                <a:solidFill>
                  <a:srgbClr val="FFFFFF">
                    <a:alpha val="70000"/>
                  </a:srgbClr>
                </a:solidFill>
                <a:latin typeface="PingFang SC"/>
                <a:ea typeface="PingFang SC"/>
              </a:rPr>
              <a:t> · </a:t>
            </a:r>
            <a:r>
              <a:rPr lang="zh-CN" sz="1500">
                <a:solidFill>
                  <a:srgbClr val="FFFFFF">
                    <a:alpha val="70000"/>
                  </a:srgbClr>
                </a:solidFill>
                <a:latin typeface="PingFang SC"/>
                <a:ea typeface="PingFang SC"/>
              </a:rPr>
              <a:t>开启会话合规之旅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2026-07-26T18:01:46Z</dcterms:created>
  <dcterms:modified xsi:type="dcterms:W3CDTF">2026-07-26T18:01:46Z</dcterms:modified>
</cp:coreProperties>
</file>